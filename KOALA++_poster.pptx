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2918400" cy="21945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326532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653064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979596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306128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1632661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1959193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2285725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2612257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448B"/>
    <a:srgbClr val="D12B2C"/>
    <a:srgbClr val="E51338"/>
    <a:srgbClr val="A88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3FCF7D-0EE2-AA49-B475-354E89C60B2B}" v="68" dt="2025-11-06T10:49:51.02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0" autoAdjust="0"/>
    <p:restoredTop sz="94726"/>
  </p:normalViewPr>
  <p:slideViewPr>
    <p:cSldViewPr snapToGrid="0" snapToObjects="1">
      <p:cViewPr>
        <p:scale>
          <a:sx n="66" d="100"/>
          <a:sy n="66" d="100"/>
        </p:scale>
        <p:origin x="144" y="-1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" name="Shape 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633155" latinLnBrk="0">
      <a:defRPr sz="3400">
        <a:latin typeface="+mn-lt"/>
        <a:ea typeface="+mn-ea"/>
        <a:cs typeface="+mn-cs"/>
        <a:sym typeface="Calibri"/>
      </a:defRPr>
    </a:lvl1pPr>
    <a:lvl2pPr indent="228600" defTabSz="2633155" latinLnBrk="0">
      <a:defRPr sz="3400">
        <a:latin typeface="+mn-lt"/>
        <a:ea typeface="+mn-ea"/>
        <a:cs typeface="+mn-cs"/>
        <a:sym typeface="Calibri"/>
      </a:defRPr>
    </a:lvl2pPr>
    <a:lvl3pPr indent="457200" defTabSz="2633155" latinLnBrk="0">
      <a:defRPr sz="3400">
        <a:latin typeface="+mn-lt"/>
        <a:ea typeface="+mn-ea"/>
        <a:cs typeface="+mn-cs"/>
        <a:sym typeface="Calibri"/>
      </a:defRPr>
    </a:lvl3pPr>
    <a:lvl4pPr indent="685800" defTabSz="2633155" latinLnBrk="0">
      <a:defRPr sz="3400">
        <a:latin typeface="+mn-lt"/>
        <a:ea typeface="+mn-ea"/>
        <a:cs typeface="+mn-cs"/>
        <a:sym typeface="Calibri"/>
      </a:defRPr>
    </a:lvl4pPr>
    <a:lvl5pPr indent="914400" defTabSz="2633155" latinLnBrk="0">
      <a:defRPr sz="3400">
        <a:latin typeface="+mn-lt"/>
        <a:ea typeface="+mn-ea"/>
        <a:cs typeface="+mn-cs"/>
        <a:sym typeface="Calibri"/>
      </a:defRPr>
    </a:lvl5pPr>
    <a:lvl6pPr indent="1143000" defTabSz="2633155" latinLnBrk="0">
      <a:defRPr sz="3400">
        <a:latin typeface="+mn-lt"/>
        <a:ea typeface="+mn-ea"/>
        <a:cs typeface="+mn-cs"/>
        <a:sym typeface="Calibri"/>
      </a:defRPr>
    </a:lvl6pPr>
    <a:lvl7pPr indent="1371600" defTabSz="2633155" latinLnBrk="0">
      <a:defRPr sz="3400">
        <a:latin typeface="+mn-lt"/>
        <a:ea typeface="+mn-ea"/>
        <a:cs typeface="+mn-cs"/>
        <a:sym typeface="Calibri"/>
      </a:defRPr>
    </a:lvl7pPr>
    <a:lvl8pPr indent="1600200" defTabSz="2633155" latinLnBrk="0">
      <a:defRPr sz="3400">
        <a:latin typeface="+mn-lt"/>
        <a:ea typeface="+mn-ea"/>
        <a:cs typeface="+mn-cs"/>
        <a:sym typeface="Calibri"/>
      </a:defRPr>
    </a:lvl8pPr>
    <a:lvl9pPr indent="1828800" defTabSz="2633155" latinLnBrk="0">
      <a:defRPr sz="34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685800"/>
            <a:ext cx="51435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424784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B 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B AI Research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45920" y="294640"/>
            <a:ext cx="29626561" cy="482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45920" y="5120640"/>
            <a:ext cx="29626561" cy="16824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5910559" y="19756119"/>
            <a:ext cx="7680961" cy="1168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731556" marR="0" indent="-731556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2319804" marR="0" indent="-856691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3943547" marR="0" indent="-1017321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5531594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6994707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8457820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9920933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11384047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12847160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326532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653064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979596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306128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1632661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1959193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2285725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2612257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png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5.jpg"/><Relationship Id="rId7" Type="http://schemas.openxmlformats.org/officeDocument/2006/relationships/hyperlink" Target="mailto:paolo.favaro@inf.unibe.ch" TargetMode="External"/><Relationship Id="rId12" Type="http://schemas.openxmlformats.org/officeDocument/2006/relationships/image" Target="../media/image7.png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aram.davtyan@inf.unibe.ch" TargetMode="External"/><Relationship Id="rId11" Type="http://schemas.openxmlformats.org/officeDocument/2006/relationships/image" Target="../media/image6.png"/><Relationship Id="rId5" Type="http://schemas.openxmlformats.org/officeDocument/2006/relationships/hyperlink" Target="mailto:zixuan.xia@students.unibe.ch" TargetMode="External"/><Relationship Id="rId15" Type="http://schemas.microsoft.com/office/2007/relationships/hdphoto" Target="../media/hdphoto1.wdp"/><Relationship Id="rId23" Type="http://schemas.openxmlformats.org/officeDocument/2006/relationships/image" Target="../media/image17.png"/><Relationship Id="rId10" Type="http://schemas.openxmlformats.org/officeDocument/2006/relationships/image" Target="../media/image5.png"/><Relationship Id="rId19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4.png"/><Relationship Id="rId14" Type="http://schemas.openxmlformats.org/officeDocument/2006/relationships/image" Target="../media/image9.png"/><Relationship Id="rId2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35"/>
          <p:cNvSpPr txBox="1"/>
          <p:nvPr/>
        </p:nvSpPr>
        <p:spPr>
          <a:xfrm>
            <a:off x="8201659" y="21040"/>
            <a:ext cx="16515082" cy="1785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5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zh-CN" b="1" dirty="0"/>
              <a:t>🐨KOALA++: Efficient Kalman-Based</a:t>
            </a:r>
            <a:r>
              <a:rPr lang="zh-CN" altLang="en-US" b="1" dirty="0"/>
              <a:t> </a:t>
            </a:r>
            <a:r>
              <a:rPr lang="zh-CN" b="1" dirty="0"/>
              <a:t>Optimization with Gradient</a:t>
            </a:r>
            <a:r>
              <a:rPr lang="en-US" altLang="zh-CN" b="1" dirty="0"/>
              <a:t>-</a:t>
            </a:r>
            <a:r>
              <a:rPr lang="zh-CN" b="1" dirty="0"/>
              <a:t>Covariance Products</a:t>
            </a:r>
            <a:endParaRPr lang="en-US" altLang="zh-CN" b="1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980528E-0DB8-D02F-9F0A-AA0D553645BF}"/>
              </a:ext>
            </a:extLst>
          </p:cNvPr>
          <p:cNvGrpSpPr/>
          <p:nvPr/>
        </p:nvGrpSpPr>
        <p:grpSpPr>
          <a:xfrm>
            <a:off x="9606124" y="3295764"/>
            <a:ext cx="9219541" cy="12320538"/>
            <a:chOff x="9606125" y="3295764"/>
            <a:chExt cx="9130938" cy="1232053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41"/>
                <p:cNvSpPr txBox="1"/>
                <p:nvPr/>
              </p:nvSpPr>
              <p:spPr>
                <a:xfrm>
                  <a:off x="9606125" y="4076540"/>
                  <a:ext cx="9130938" cy="11539762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lIns="45719" rIns="45719">
                  <a:spAutoFit/>
                </a:bodyPr>
                <a:lstStyle>
                  <a:lvl1pPr>
                    <a:lnSpc>
                      <a:spcPct val="120000"/>
                    </a:lnSpc>
                    <a:defRPr sz="2100">
                      <a:solidFill>
                        <a:srgbClr val="344854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r>
                    <a:rPr lang="en-US" altLang="zh-CN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Key idea: </a:t>
                  </a:r>
                  <a:r>
                    <a:rPr lang="en-US" altLang="zh-CN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Track gradient-covariance products instead of the full covariance! </a:t>
                  </a:r>
                  <a:endParaRPr lang="en-US" altLang="zh-CN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endParaRPr lang="en-US" altLang="zh-CN" sz="24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ℛ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1×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endParaRPr lang="en-US" altLang="zh-CN" sz="2400" i="1" dirty="0">
                    <a:latin typeface="Cambria Math" panose="02040503050406030204" pitchFamily="18" charset="0"/>
                  </a:endParaRPr>
                </a:p>
                <a:p>
                  <a:r>
                    <a:rPr lang="en-US" altLang="zh-CN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By plugging this into the update equations one obtains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rgbClr val="68448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68448B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rgbClr val="68448B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68448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68448B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68448B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solidFill>
                                  <a:srgbClr val="68448B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𝑄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b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sSubSup>
                              <m:sSubSup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sz="2400" dirty="0">
                    <a:ea typeface="Cambria Math" panose="02040503050406030204" pitchFamily="18" charset="0"/>
                  </a:endParaRPr>
                </a:p>
                <a:p>
                  <a:endParaRPr lang="en-US" altLang="zh-CN" sz="2400" dirty="0">
                    <a:ea typeface="Cambria Math" panose="02040503050406030204" pitchFamily="18" charset="0"/>
                  </a:endParaRPr>
                </a:p>
                <a:p>
                  <a:endParaRPr lang="en-US" altLang="zh-CN" sz="2400" dirty="0">
                    <a:ea typeface="Cambria Math" panose="02040503050406030204" pitchFamily="18" charset="0"/>
                  </a:endParaRPr>
                </a:p>
                <a:p>
                  <a:endParaRPr lang="en-US" altLang="zh-CN" sz="2400" dirty="0"/>
                </a:p>
                <a:p>
                  <a:r>
                    <a:rPr lang="en-US" b="1" dirty="0"/>
                    <a:t>Approximation</a:t>
                  </a:r>
                  <a:r>
                    <a:rPr lang="en-US" dirty="0"/>
                    <a:t>: Use a least square estimate to approximate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a14:m>
                  <a:endParaRPr lang="en-US" sz="2400" b="0" dirty="0"/>
                </a:p>
                <a:p>
                  <a:endParaRPr lang="en-US" sz="2400" b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lim>
                            </m:limLow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||</m:t>
                            </m:r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||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fun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.   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  <a:p>
                  <a:endParaRPr lang="en-US" sz="2400" b="0" dirty="0"/>
                </a:p>
                <a:p>
                  <a:r>
                    <a:rPr lang="en-US" dirty="0"/>
                    <a:t>Explicit symmetric solution for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a14:m>
                  <a:endParaRPr lang="en-US" sz="2400" b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lit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||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𝐻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sz="2400" b="0" dirty="0"/>
                </a:p>
                <a:p>
                  <a:pPr/>
                  <a:br>
                    <a:rPr lang="en-US" b="0" dirty="0"/>
                  </a:br>
                  <a:r>
                    <a:rPr lang="en-US" b="0" dirty="0"/>
                    <a:t>Let us introduce the following auxiliary variables</a:t>
                  </a:r>
                  <a:endParaRPr lang="en-US" sz="28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bSup>
                          </m:num>
                          <m:den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||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||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   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b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24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bSup>
                              </m:e>
                            </m:d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−(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b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)(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b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||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||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sz="2400" dirty="0"/>
                </a:p>
                <a:p>
                  <a:br>
                    <a:rPr lang="en-US" dirty="0"/>
                  </a:br>
                  <a:r>
                    <a:rPr lang="en-US" dirty="0"/>
                    <a:t>By plugging the above terms in the EKF equations we obtain </a:t>
                  </a:r>
                  <a:r>
                    <a:rPr lang="en-US" b="1" dirty="0"/>
                    <a:t>KOALA++.</a:t>
                  </a:r>
                </a:p>
              </p:txBody>
            </p:sp>
          </mc:Choice>
          <mc:Fallback>
            <p:sp>
              <p:nvSpPr>
                <p:cNvPr id="35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6125" y="4076540"/>
                  <a:ext cx="9130938" cy="11539762"/>
                </a:xfrm>
                <a:prstGeom prst="rect">
                  <a:avLst/>
                </a:prstGeom>
                <a:blipFill>
                  <a:blip r:embed="rId3"/>
                  <a:stretch>
                    <a:fillRect l="-1238" r="-138" b="-110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CH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TextBox 43"/>
            <p:cNvSpPr txBox="1"/>
            <p:nvPr/>
          </p:nvSpPr>
          <p:spPr>
            <a:xfrm>
              <a:off x="9606125" y="3295764"/>
              <a:ext cx="9064533" cy="61555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defRPr sz="3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en-US" b="1" dirty="0"/>
                <a:t>💡All You Need Is Covariance Projections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209B238-4A27-B610-337A-AC5D94742475}"/>
              </a:ext>
            </a:extLst>
          </p:cNvPr>
          <p:cNvGrpSpPr/>
          <p:nvPr/>
        </p:nvGrpSpPr>
        <p:grpSpPr>
          <a:xfrm>
            <a:off x="249675" y="12847148"/>
            <a:ext cx="9202837" cy="5215723"/>
            <a:chOff x="249676" y="12565038"/>
            <a:chExt cx="9140560" cy="5215723"/>
          </a:xfrm>
        </p:grpSpPr>
        <p:sp>
          <p:nvSpPr>
            <p:cNvPr id="39" name="TextBox 45"/>
            <p:cNvSpPr txBox="1"/>
            <p:nvPr/>
          </p:nvSpPr>
          <p:spPr>
            <a:xfrm>
              <a:off x="249676" y="12565038"/>
              <a:ext cx="9064534" cy="61555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defRPr sz="3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en-CH" dirty="0"/>
                <a:t>⚖️ </a:t>
              </a:r>
              <a:r>
                <a:rPr lang="en-US" b="1" dirty="0"/>
                <a:t>Approximations in Prior Work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Box 47"/>
                <p:cNvSpPr txBox="1"/>
                <p:nvPr/>
              </p:nvSpPr>
              <p:spPr>
                <a:xfrm>
                  <a:off x="325702" y="13180591"/>
                  <a:ext cx="9064534" cy="4600170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wrap="square" lIns="45719" rIns="45719">
                  <a:spAutoFit/>
                </a:bodyPr>
                <a:lstStyle>
                  <a:lvl1pPr>
                    <a:lnSpc>
                      <a:spcPct val="120000"/>
                    </a:lnSpc>
                    <a:defRPr sz="2100">
                      <a:solidFill>
                        <a:srgbClr val="344854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pPr>
                    <a:lnSpc>
                      <a:spcPct val="120000"/>
                    </a:lnSpc>
                    <a:buSzPct val="100000"/>
                    <a:defRPr sz="2100">
                      <a:solidFill>
                        <a:srgbClr val="344854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defRPr>
                  </a:pPr>
                  <a:r>
                    <a:rPr lang="en-US" dirty="0">
                      <a:sym typeface="Calibri"/>
                    </a:rPr>
                    <a:t>Prior work approximates the covariance or the gradient outer product to make computations efficient. For example, KOALA [1] works with scaled identity matrices.</a:t>
                  </a:r>
                </a:p>
                <a:p>
                  <a:pPr>
                    <a:lnSpc>
                      <a:spcPct val="120000"/>
                    </a:lnSpc>
                    <a:buSzPct val="100000"/>
                    <a:defRPr sz="2100">
                      <a:solidFill>
                        <a:srgbClr val="344854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defRPr>
                  </a:pPr>
                  <a:endParaRPr lang="en-US" dirty="0">
                    <a:sym typeface="Calibri"/>
                  </a:endParaRPr>
                </a:p>
                <a:p>
                  <a:pPr>
                    <a:buSzPct val="100000"/>
                    <a:defRPr sz="2100">
                      <a:solidFill>
                        <a:srgbClr val="344854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defRPr>
                  </a:pPr>
                  <a:r>
                    <a:rPr lang="en-CN" sz="2400" b="1" dirty="0"/>
                    <a:t>🧩</a:t>
                  </a:r>
                  <a:r>
                    <a:rPr lang="zh-CN" altLang="en-US" sz="2400" b="1" dirty="0"/>
                    <a:t> </a:t>
                  </a:r>
                  <a:r>
                    <a:rPr lang="en-US" altLang="zh-CN" sz="2400" b="1" dirty="0"/>
                    <a:t>Limitations:</a:t>
                  </a:r>
                </a:p>
                <a:p>
                  <a:pPr marL="342900" indent="-342900">
                    <a:buSzPct val="100000"/>
                    <a:buFont typeface="Wingdings" panose="05000000000000000000" pitchFamily="2" charset="2"/>
                    <a:buChar char="§"/>
                    <a:defRPr sz="2100">
                      <a:solidFill>
                        <a:srgbClr val="344854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defRPr>
                  </a:pPr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Scalar covariance → no directional curvature</a:t>
                  </a:r>
                </a:p>
                <a:p>
                  <a:pPr marL="342900" indent="-342900">
                    <a:buSzPct val="100000"/>
                    <a:buFont typeface="Wingdings" panose="05000000000000000000" pitchFamily="2" charset="2"/>
                    <a:buChar char="§"/>
                    <a:defRPr sz="2100">
                      <a:solidFill>
                        <a:srgbClr val="344854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defRPr>
                  </a:pPr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Scalar approximation of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a14:m>
                  <a:r>
                    <a:rPr lang="en-US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 </a:t>
                  </a:r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→ no correlated gradient directions</a:t>
                  </a:r>
                </a:p>
                <a:p>
                  <a:pPr>
                    <a:buSzPct val="100000"/>
                    <a:defRPr sz="2100">
                      <a:solidFill>
                        <a:srgbClr val="344854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defRPr>
                  </a:pPr>
                  <a:endParaRPr lang="en-US" altLang="zh-CN" sz="2400" b="1" dirty="0"/>
                </a:p>
                <a:p>
                  <a:pPr>
                    <a:lnSpc>
                      <a:spcPct val="120000"/>
                    </a:lnSpc>
                    <a:buSzPct val="100000"/>
                    <a:defRPr sz="2100">
                      <a:solidFill>
                        <a:srgbClr val="344854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defRPr>
                  </a:pPr>
                  <a:endParaRPr lang="en-US" dirty="0">
                    <a:sym typeface="Calibri"/>
                  </a:endParaRPr>
                </a:p>
                <a:p>
                  <a:pPr>
                    <a:lnSpc>
                      <a:spcPct val="120000"/>
                    </a:lnSpc>
                    <a:buSzPct val="100000"/>
                    <a:defRPr sz="2100">
                      <a:solidFill>
                        <a:srgbClr val="344854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defRPr>
                  </a:pPr>
                  <a:endParaRPr lang="en-US" dirty="0">
                    <a:sym typeface="Calibri"/>
                  </a:endParaRPr>
                </a:p>
                <a:p>
                  <a:pPr>
                    <a:lnSpc>
                      <a:spcPct val="120000"/>
                    </a:lnSpc>
                    <a:buSzPct val="100000"/>
                    <a:defRPr sz="2100">
                      <a:solidFill>
                        <a:srgbClr val="344854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defRPr>
                  </a:pPr>
                  <a:endParaRPr lang="en-US" dirty="0">
                    <a:sym typeface="Calibri"/>
                  </a:endParaRPr>
                </a:p>
              </p:txBody>
            </p:sp>
          </mc:Choice>
          <mc:Fallback>
            <p:sp>
              <p:nvSpPr>
                <p:cNvPr id="41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702" y="13180591"/>
                  <a:ext cx="9064534" cy="4600170"/>
                </a:xfrm>
                <a:prstGeom prst="rect">
                  <a:avLst/>
                </a:prstGeom>
                <a:blipFill>
                  <a:blip r:embed="rId4"/>
                  <a:stretch>
                    <a:fillRect l="-1528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CH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TextBox 51"/>
          <p:cNvSpPr txBox="1"/>
          <p:nvPr/>
        </p:nvSpPr>
        <p:spPr>
          <a:xfrm>
            <a:off x="18979276" y="12951540"/>
            <a:ext cx="9029701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CN" dirty="0"/>
              <a:t>🔠</a:t>
            </a:r>
            <a:r>
              <a:rPr lang="zh-CN" altLang="en-US" dirty="0"/>
              <a:t> </a:t>
            </a:r>
            <a:r>
              <a:rPr lang="en-US" altLang="zh-CN" b="1" dirty="0"/>
              <a:t>Language Modeling</a:t>
            </a:r>
            <a:endParaRPr b="1" dirty="0"/>
          </a:p>
        </p:txBody>
      </p:sp>
      <p:sp>
        <p:nvSpPr>
          <p:cNvPr id="49" name="TextBox 61"/>
          <p:cNvSpPr txBox="1"/>
          <p:nvPr/>
        </p:nvSpPr>
        <p:spPr>
          <a:xfrm>
            <a:off x="357466" y="21276166"/>
            <a:ext cx="8823826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 anchor="b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] A.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Davtyan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et al., </a:t>
            </a:r>
            <a:r>
              <a:rPr lang="en-US" sz="180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KOALA: A Kalman Optimization Algorithm with Loss Adaptivity</a:t>
            </a:r>
          </a:p>
        </p:txBody>
      </p:sp>
      <p:sp>
        <p:nvSpPr>
          <p:cNvPr id="50" name="TextBox 37"/>
          <p:cNvSpPr txBox="1"/>
          <p:nvPr/>
        </p:nvSpPr>
        <p:spPr>
          <a:xfrm>
            <a:off x="11124483" y="1752180"/>
            <a:ext cx="10669434" cy="832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lnSpc>
                <a:spcPct val="120000"/>
              </a:lnSpc>
              <a:spcBef>
                <a:spcPts val="1000"/>
              </a:spcBef>
              <a:defRPr sz="21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Zixuan Xia               Aram Davtyan            Paolo Favaro</a:t>
            </a:r>
            <a:br>
              <a:rPr lang="en-US" dirty="0"/>
            </a:br>
            <a:r>
              <a:rPr lang="en-US" dirty="0">
                <a:hlinkClick r:id="rId5"/>
              </a:rPr>
              <a:t>zixuan.xia@students.unibe.ch</a:t>
            </a:r>
            <a:r>
              <a:rPr lang="en-US" dirty="0"/>
              <a:t>, </a:t>
            </a:r>
            <a:r>
              <a:rPr lang="en-US" dirty="0">
                <a:hlinkClick r:id="rId6"/>
              </a:rPr>
              <a:t>aram.davtyan@unibe.ch</a:t>
            </a:r>
            <a:r>
              <a:rPr lang="en-US" dirty="0"/>
              <a:t>, </a:t>
            </a:r>
            <a:r>
              <a:rPr lang="en-US" dirty="0">
                <a:hlinkClick r:id="rId7"/>
              </a:rPr>
              <a:t>paolo.favaro@unibe.ch</a:t>
            </a:r>
            <a:endParaRPr dirty="0"/>
          </a:p>
        </p:txBody>
      </p:sp>
      <p:pic>
        <p:nvPicPr>
          <p:cNvPr id="54" name="neurips_logo.pdf" descr="neurips_logo.pd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94030" y="235388"/>
            <a:ext cx="5984761" cy="269314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5F98CB3-7BAD-FBB3-EF99-CCF8AE4490A2}"/>
              </a:ext>
            </a:extLst>
          </p:cNvPr>
          <p:cNvGrpSpPr/>
          <p:nvPr/>
        </p:nvGrpSpPr>
        <p:grpSpPr>
          <a:xfrm>
            <a:off x="28576339" y="17126155"/>
            <a:ext cx="3461112" cy="3780679"/>
            <a:chOff x="24992592" y="484614"/>
            <a:chExt cx="2218424" cy="2508004"/>
          </a:xfrm>
        </p:grpSpPr>
        <p:sp>
          <p:nvSpPr>
            <p:cNvPr id="2" name="TextBox 60">
              <a:extLst>
                <a:ext uri="{FF2B5EF4-FFF2-40B4-BE49-F238E27FC236}">
                  <a16:creationId xmlns:a16="http://schemas.microsoft.com/office/drawing/2014/main" id="{D0B87D7E-2BE9-935D-6C95-E756E85FE052}"/>
                </a:ext>
              </a:extLst>
            </p:cNvPr>
            <p:cNvSpPr txBox="1"/>
            <p:nvPr/>
          </p:nvSpPr>
          <p:spPr>
            <a:xfrm>
              <a:off x="25161037" y="2645527"/>
              <a:ext cx="1852426" cy="347091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45719" rIns="45719">
              <a:spAutoFit/>
            </a:bodyPr>
            <a:lstStyle>
              <a:lvl1pPr>
                <a:defRPr sz="2100"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1pPr>
            </a:lstStyle>
            <a:p>
              <a:pPr algn="ctr"/>
              <a:r>
                <a:rPr lang="en-US" sz="2800" dirty="0"/>
                <a:t>Code &amp; Paper</a:t>
              </a:r>
              <a:endParaRPr sz="2800" dirty="0"/>
            </a:p>
          </p:txBody>
        </p:sp>
        <p:pic>
          <p:nvPicPr>
            <p:cNvPr id="3" name="Picture 2" descr="A qr code on a white background&#10;&#10;Description automatically generated">
              <a:extLst>
                <a:ext uri="{FF2B5EF4-FFF2-40B4-BE49-F238E27FC236}">
                  <a16:creationId xmlns:a16="http://schemas.microsoft.com/office/drawing/2014/main" id="{F65C0811-4D91-4933-B1D9-04DF35F0E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92592" y="484614"/>
              <a:ext cx="2218424" cy="2218424"/>
            </a:xfrm>
            <a:prstGeom prst="rect">
              <a:avLst/>
            </a:prstGeom>
          </p:spPr>
        </p:pic>
      </p:grpSp>
      <p:sp>
        <p:nvSpPr>
          <p:cNvPr id="14" name="TextBox 43">
            <a:extLst>
              <a:ext uri="{FF2B5EF4-FFF2-40B4-BE49-F238E27FC236}">
                <a16:creationId xmlns:a16="http://schemas.microsoft.com/office/drawing/2014/main" id="{415D6918-F147-FAFA-7DE0-128B74AED3BF}"/>
              </a:ext>
            </a:extLst>
          </p:cNvPr>
          <p:cNvSpPr txBox="1"/>
          <p:nvPr/>
        </p:nvSpPr>
        <p:spPr>
          <a:xfrm>
            <a:off x="19089110" y="3295764"/>
            <a:ext cx="9064533" cy="61555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340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r>
              <a:rPr lang="en-CH" dirty="0"/>
              <a:t>🖼️</a:t>
            </a:r>
            <a:r>
              <a:rPr lang="zh-CN" altLang="en-US" b="1" dirty="0"/>
              <a:t> </a:t>
            </a:r>
            <a:r>
              <a:rPr lang="en-US" altLang="zh-CN" b="1" dirty="0"/>
              <a:t>Image Classification</a:t>
            </a:r>
            <a:endParaRPr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641A12E-A7C5-E3CC-D97B-37B85F4F18B4}"/>
              </a:ext>
            </a:extLst>
          </p:cNvPr>
          <p:cNvGrpSpPr/>
          <p:nvPr/>
        </p:nvGrpSpPr>
        <p:grpSpPr>
          <a:xfrm>
            <a:off x="19089111" y="16704725"/>
            <a:ext cx="8878890" cy="5240875"/>
            <a:chOff x="23184784" y="15085670"/>
            <a:chExt cx="8878890" cy="524087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1660664-9761-4A30-2363-F40144A4FAD7}"/>
                </a:ext>
              </a:extLst>
            </p:cNvPr>
            <p:cNvGrpSpPr/>
            <p:nvPr/>
          </p:nvGrpSpPr>
          <p:grpSpPr>
            <a:xfrm>
              <a:off x="23184784" y="15085670"/>
              <a:ext cx="8878890" cy="4320000"/>
              <a:chOff x="23138828" y="15085670"/>
              <a:chExt cx="8878890" cy="4320000"/>
            </a:xfrm>
          </p:grpSpPr>
          <p:pic>
            <p:nvPicPr>
              <p:cNvPr id="16" name="Picture 15" descr="A graph of a log scale&#10;&#10;Description automatically generated">
                <a:extLst>
                  <a:ext uri="{FF2B5EF4-FFF2-40B4-BE49-F238E27FC236}">
                    <a16:creationId xmlns:a16="http://schemas.microsoft.com/office/drawing/2014/main" id="{8D39EC52-C5D1-2263-39BA-EF3B6B14D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138828" y="15085670"/>
                <a:ext cx="4320000" cy="4320000"/>
              </a:xfrm>
              <a:prstGeom prst="rect">
                <a:avLst/>
              </a:prstGeom>
            </p:spPr>
          </p:pic>
          <p:pic>
            <p:nvPicPr>
              <p:cNvPr id="17" name="Picture 16" descr="A graph of a log scale&#10;&#10;Description automatically generated">
                <a:extLst>
                  <a:ext uri="{FF2B5EF4-FFF2-40B4-BE49-F238E27FC236}">
                    <a16:creationId xmlns:a16="http://schemas.microsoft.com/office/drawing/2014/main" id="{6DDE442F-AFAC-AA01-BF27-7DAA838659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697718" y="15085670"/>
                <a:ext cx="4320000" cy="4320000"/>
              </a:xfrm>
              <a:prstGeom prst="rect">
                <a:avLst/>
              </a:prstGeom>
            </p:spPr>
          </p:pic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CCE3A5E-7E77-3F5F-AADF-143B97F6BC4A}"/>
                </a:ext>
              </a:extLst>
            </p:cNvPr>
            <p:cNvSpPr txBox="1"/>
            <p:nvPr/>
          </p:nvSpPr>
          <p:spPr>
            <a:xfrm>
              <a:off x="23375894" y="19403215"/>
              <a:ext cx="8521430" cy="923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 algn="just"/>
              <a:r>
                <a:rPr lang="en-US" sz="1800" dirty="0">
                  <a:latin typeface="Arial" panose="020B0604020202020204" pitchFamily="34" charset="0"/>
                  <a:cs typeface="Arial" panose="020B0604020202020204" pitchFamily="34" charset="0"/>
                </a:rPr>
                <a:t>Figure 3:Language modeling performance on Wikitext-2, including the test PPL throughout the wall clock time (Left) and epochs (Right)</a:t>
              </a:r>
            </a:p>
            <a:p>
              <a:pPr algn="just"/>
              <a:endParaRPr lang="en-US"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D70C3A5-F22B-962B-79F1-156220EEAC0B}"/>
              </a:ext>
            </a:extLst>
          </p:cNvPr>
          <p:cNvGrpSpPr/>
          <p:nvPr/>
        </p:nvGrpSpPr>
        <p:grpSpPr>
          <a:xfrm>
            <a:off x="9606124" y="15895787"/>
            <a:ext cx="9219541" cy="4937567"/>
            <a:chOff x="9827423" y="14175589"/>
            <a:chExt cx="9219541" cy="4937567"/>
          </a:xfrm>
        </p:grpSpPr>
        <p:sp>
          <p:nvSpPr>
            <p:cNvPr id="63" name="TextBox 51">
              <a:extLst>
                <a:ext uri="{FF2B5EF4-FFF2-40B4-BE49-F238E27FC236}">
                  <a16:creationId xmlns:a16="http://schemas.microsoft.com/office/drawing/2014/main" id="{BB3094C6-269F-461F-59D6-75649BAB0576}"/>
                </a:ext>
              </a:extLst>
            </p:cNvPr>
            <p:cNvSpPr txBox="1"/>
            <p:nvPr/>
          </p:nvSpPr>
          <p:spPr>
            <a:xfrm>
              <a:off x="9827423" y="14175589"/>
              <a:ext cx="9029701" cy="61555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defRPr sz="3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en-CN" dirty="0"/>
                <a:t>📊 </a:t>
              </a:r>
              <a:r>
                <a:rPr lang="en-US" altLang="zh-CN" b="1" dirty="0"/>
                <a:t>KOALA++ Optimizer</a:t>
              </a:r>
              <a:endParaRPr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A3A92FA-AF20-CCAA-8A58-DE32112F7D36}"/>
                    </a:ext>
                  </a:extLst>
                </p:cNvPr>
                <p:cNvSpPr txBox="1"/>
                <p:nvPr/>
              </p:nvSpPr>
              <p:spPr>
                <a:xfrm>
                  <a:off x="9827423" y="14984527"/>
                  <a:ext cx="9219541" cy="4128629"/>
                </a:xfrm>
                <a:prstGeom prst="rect">
                  <a:avLst/>
                </a:prstGeom>
                <a:noFill/>
                <a:ln w="28575" cap="flat">
                  <a:solidFill>
                    <a:srgbClr val="68448B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326532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CN" sz="21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Arial" panose="020B0604020202020204" pitchFamily="34" charset="0"/>
                      <a:cs typeface="Arial" panose="020B0604020202020204" pitchFamily="34" charset="0"/>
                      <a:sym typeface="Calibri"/>
                    </a:rPr>
                    <a:t>Initialize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CN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CN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Calibri"/>
                            </a:rPr>
                            <m:t>𝜃</m:t>
                          </m:r>
                        </m:e>
                        <m:sub>
                          <m: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2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  <a:sym typeface="Calibri"/>
                        </a:rPr>
                        <m:t>, </m:t>
                      </m:r>
                      <m:sSub>
                        <m:sSubPr>
                          <m:ctrlP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alibri"/>
                            </a:rPr>
                            <m:t>𝑣</m:t>
                          </m:r>
                        </m:e>
                        <m:sub>
                          <m:r>
                            <a:rPr kumimoji="0" lang="en-US" sz="24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2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  <a:sym typeface="Calibri"/>
                        </a:rPr>
                        <m:t>, </m:t>
                      </m:r>
                      <m:r>
                        <a:rPr kumimoji="0" lang="en-US" sz="2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  <a:sym typeface="Calibri"/>
                        </a:rPr>
                        <m:t>𝑄</m:t>
                      </m:r>
                      <m:r>
                        <a:rPr kumimoji="0" lang="en-US" sz="2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  <a:sym typeface="Calibri"/>
                        </a:rPr>
                        <m:t>, </m:t>
                      </m:r>
                      <m:r>
                        <a:rPr kumimoji="0" lang="en-US" sz="24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  <a:sym typeface="Calibri"/>
                        </a:rPr>
                        <m:t>𝑅</m:t>
                      </m:r>
                    </m:oMath>
                  </a14:m>
                  <a:r>
                    <a:rPr kumimoji="0" lang="en-CN" sz="24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Arial" panose="020B0604020202020204" pitchFamily="34" charset="0"/>
                      <a:cs typeface="Arial" panose="020B0604020202020204" pitchFamily="34" charset="0"/>
                      <a:sym typeface="Calibri"/>
                    </a:rPr>
                    <a:t> </a:t>
                  </a:r>
                  <a:r>
                    <a:rPr kumimoji="0" lang="en-CN" sz="21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Arial" panose="020B0604020202020204" pitchFamily="34" charset="0"/>
                      <a:cs typeface="Arial" panose="020B0604020202020204" pitchFamily="34" charset="0"/>
                      <a:sym typeface="Calibri"/>
                    </a:rPr>
                    <a:t>and fix the</a:t>
                  </a:r>
                  <a:r>
                    <a:rPr kumimoji="0" lang="en-CN" sz="2100" b="0" i="0" u="none" strike="noStrike" cap="none" spc="0" normalizeH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Arial" panose="020B0604020202020204" pitchFamily="34" charset="0"/>
                      <a:cs typeface="Arial" panose="020B0604020202020204" pitchFamily="34" charset="0"/>
                      <a:sym typeface="Calibri"/>
                    </a:rPr>
                    <a:t> learning rate schedule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CN" sz="2400" b="0" i="1" u="none" strike="noStrike" cap="none" spc="0" normalizeH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CN" sz="2400" b="0" i="1" u="none" strike="noStrike" cap="none" spc="0" normalizeH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Calibri"/>
                            </a:rPr>
                            <m:t>𝜂</m:t>
                          </m:r>
                        </m:e>
                        <m:sub>
                          <m:r>
                            <a:rPr kumimoji="0" lang="en-US" sz="2400" b="0" i="1" u="none" strike="noStrike" cap="none" spc="0" normalizeH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alibri"/>
                            </a:rPr>
                            <m:t>𝑘</m:t>
                          </m:r>
                        </m:sub>
                      </m:sSub>
                    </m:oMath>
                  </a14:m>
                  <a:endParaRPr kumimoji="0" lang="en-US" sz="2400" b="0" i="0" u="none" strike="noStrike" cap="none" spc="0" normalizeH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endParaRPr>
                </a:p>
                <a:p>
                  <a:pPr marL="0" marR="0" indent="0" algn="l" defTabSz="326532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CN" sz="21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endParaRPr>
                </a:p>
                <a:p>
                  <a:r>
                    <a:rPr lang="en-US" sz="21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r>
                    <a:rPr lang="en-CN" sz="21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or</a:t>
                  </a:r>
                  <a:r>
                    <a:rPr lang="en-CN" sz="21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1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𝑘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=2</m:t>
                      </m:r>
                    </m:oMath>
                  </a14:m>
                  <a:r>
                    <a:rPr kumimoji="0" lang="en-US" sz="21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Arial" panose="020B0604020202020204" pitchFamily="34" charset="0"/>
                      <a:cs typeface="Arial" panose="020B0604020202020204" pitchFamily="34" charset="0"/>
                      <a:sym typeface="Calibri"/>
                    </a:rPr>
                    <a:t> to</a:t>
                  </a:r>
                  <a:r>
                    <a:rPr kumimoji="0" lang="en-US" sz="2100" b="0" i="0" u="none" strike="noStrike" cap="none" spc="0" normalizeH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Arial" panose="020B0604020202020204" pitchFamily="34" charset="0"/>
                      <a:cs typeface="Arial" panose="020B0604020202020204" pitchFamily="34" charset="0"/>
                      <a:sym typeface="Calibri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1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𝑇</m:t>
                      </m:r>
                    </m:oMath>
                  </a14:m>
                  <a:r>
                    <a:rPr kumimoji="0" lang="en-CN" sz="21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Arial" panose="020B0604020202020204" pitchFamily="34" charset="0"/>
                      <a:cs typeface="Arial" panose="020B0604020202020204" pitchFamily="34" charset="0"/>
                      <a:sym typeface="Calibri"/>
                    </a:rPr>
                    <a:t> </a:t>
                  </a:r>
                  <a:r>
                    <a:rPr kumimoji="0" lang="en-CN" sz="2100" b="1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Arial" panose="020B0604020202020204" pitchFamily="34" charset="0"/>
                      <a:cs typeface="Arial" panose="020B0604020202020204" pitchFamily="34" charset="0"/>
                      <a:sym typeface="Calibri"/>
                    </a:rPr>
                    <a:t>do</a:t>
                  </a:r>
                  <a:endParaRPr lang="en-CN" sz="21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r>
                    <a:rPr kumimoji="0" lang="en-US" sz="2100" b="1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Arial" panose="020B0604020202020204" pitchFamily="34" charset="0"/>
                      <a:cs typeface="Arial" panose="020B0604020202020204" pitchFamily="34" charset="0"/>
                      <a:sym typeface="Calibri"/>
                    </a:rPr>
                    <a:t>	Calculate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</m:sub>
                      </m:sSub>
                    </m:oMath>
                  </a14:m>
                  <a:r>
                    <a:rPr kumimoji="0" lang="en-US" sz="2400" b="1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Arial" panose="020B0604020202020204" pitchFamily="34" charset="0"/>
                      <a:cs typeface="Arial" panose="020B0604020202020204" pitchFamily="34" charset="0"/>
                      <a:sym typeface="Calibri"/>
                    </a:rPr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</m:sub>
                      </m:sSub>
                    </m:oMath>
                  </a14:m>
                  <a:r>
                    <a:rPr lang="en-US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</m:sub>
                      </m:sSub>
                    </m:oMath>
                  </a14:m>
                  <a:r>
                    <a:rPr lang="en-US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sz="21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as defined above</a:t>
                  </a:r>
                  <a:endParaRPr kumimoji="0" lang="en-US" sz="2100" b="1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endParaRPr>
                </a:p>
                <a:p>
                  <a:pPr marR="0" algn="l" defTabSz="326532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</a:pPr>
                  <a:r>
                    <a:rPr kumimoji="0" lang="en-US" sz="2100" b="1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Arial" panose="020B0604020202020204" pitchFamily="34" charset="0"/>
                      <a:cs typeface="Arial" panose="020B0604020202020204" pitchFamily="34" charset="0"/>
                      <a:sym typeface="Calibri"/>
                    </a:rPr>
                    <a:t>	</a:t>
                  </a:r>
                  <a:r>
                    <a:rPr kumimoji="0" lang="en-CN" sz="2100" b="1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Arial" panose="020B0604020202020204" pitchFamily="34" charset="0"/>
                      <a:cs typeface="Arial" panose="020B0604020202020204" pitchFamily="34" charset="0"/>
                      <a:sym typeface="Calibri"/>
                    </a:rPr>
                    <a:t>Update</a:t>
                  </a:r>
                  <a:r>
                    <a:rPr lang="en-CN" sz="21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:</a:t>
                  </a:r>
                </a:p>
                <a:p>
                  <a:pPr marR="0" algn="l" defTabSz="326532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CN" sz="240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𝑘</m:t>
                            </m:r>
                          </m:sub>
                        </m:sSub>
                        <m: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alibri"/>
                          </a:rPr>
                          <m:t>=</m:t>
                        </m:r>
                        <m:d>
                          <m:dPr>
                            <m:ctrlPr>
                              <a:rPr kumimoji="0" lang="en-US" sz="240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240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en-US" sz="240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kumimoji="0" lang="en-US" sz="240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𝑘</m:t>
                            </m:r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−1</m:t>
                            </m:r>
                          </m:sub>
                        </m:sSub>
                        <m: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alibri"/>
                          </a:rPr>
                          <m:t>+</m:t>
                        </m:r>
                        <m: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alibri"/>
                          </a:rPr>
                          <m:t>𝑄</m:t>
                        </m:r>
                        <m:d>
                          <m:dPr>
                            <m:ctrlPr>
                              <a:rPr kumimoji="0" lang="en-US" sz="240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240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en-US" sz="240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0" lang="en-US" sz="240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𝑘</m:t>
                                </m:r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sz="240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𝑟</m:t>
                            </m:r>
                          </m:e>
                          <m:sub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sz="240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𝐻</m:t>
                            </m:r>
                          </m:e>
                          <m:sub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𝑘</m:t>
                            </m:r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kumimoji="0" lang="en-US" sz="240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endParaRPr>
                </a:p>
                <a:p>
                  <a:pPr marR="0" algn="l" defTabSz="326532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</a:pPr>
                  <a:endParaRPr kumimoji="0" lang="en-US" sz="2400" b="1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endParaRPr>
                </a:p>
                <a:p>
                  <a:pPr marR="0" algn="l" defTabSz="326532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CN" sz="240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CN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𝜃</m:t>
                            </m:r>
                          </m:e>
                          <m:sub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𝑘</m:t>
                            </m:r>
                          </m:sub>
                        </m:sSub>
                        <m: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alibri"/>
                          </a:rPr>
                          <m:t>=</m:t>
                        </m:r>
                        <m:sSub>
                          <m:sSubPr>
                            <m:ctrlPr>
                              <a:rPr kumimoji="0" lang="en-US" sz="240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𝜃</m:t>
                            </m:r>
                          </m:e>
                          <m:sub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𝑘</m:t>
                            </m:r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−1</m:t>
                            </m:r>
                          </m:sub>
                        </m:sSub>
                        <m: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alibri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sz="240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𝜂</m:t>
                            </m:r>
                          </m:e>
                          <m:sub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𝑘</m:t>
                            </m:r>
                          </m:sub>
                        </m:sSub>
                        <m: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alibri"/>
                          </a:rPr>
                          <m:t>∙</m:t>
                        </m:r>
                        <m:f>
                          <m:fPr>
                            <m:ctrlPr>
                              <a:rPr kumimoji="0" lang="en-US" sz="240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0" lang="en-US" sz="240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0" lang="en-US" sz="240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sz="240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  <a:sym typeface="Calibri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  <a:sym typeface="Calibri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  <a:sym typeface="Calibri"/>
                                      </a:rPr>
                                      <m:t>𝑘</m:t>
                                    </m:r>
                                    <m:r>
                                      <a:rPr kumimoji="0" lang="en-US" sz="24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  <a:sym typeface="Calibri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kumimoji="0" lang="en-US" sz="240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kumimoji="0" lang="en-US" sz="240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</m:ctrlPr>
                              </m:sSubSupPr>
                              <m:e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+</m:t>
                            </m:r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𝑄</m:t>
                            </m:r>
                            <m:sSub>
                              <m:sSubPr>
                                <m:ctrlPr>
                                  <a:rPr kumimoji="0" lang="en-US" sz="240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kumimoji="0" lang="en-US" sz="240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</m:ctrlPr>
                              </m:sSubSupPr>
                              <m:e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⊤</m:t>
                                </m:r>
                              </m:sup>
                            </m:sSubSup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+</m:t>
                            </m:r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𝑅</m:t>
                            </m:r>
                          </m:den>
                        </m:f>
                        <m: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alibri"/>
                          </a:rPr>
                          <m:t>∙(</m:t>
                        </m:r>
                        <m:sSubSup>
                          <m:sSubSupPr>
                            <m:ctrlPr>
                              <a:rPr kumimoji="0" lang="en-US" sz="240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</m:ctrlPr>
                          </m:sSubSupPr>
                          <m:e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𝑘</m:t>
                            </m:r>
                          </m:sub>
                          <m:sup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⊤</m:t>
                            </m:r>
                          </m:sup>
                        </m:sSubSup>
                        <m: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alibri"/>
                          </a:rPr>
                          <m:t>+</m:t>
                        </m:r>
                        <m: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alibri"/>
                          </a:rPr>
                          <m:t>𝑄</m:t>
                        </m:r>
                        <m:sSubSup>
                          <m:sSubSupPr>
                            <m:ctrlPr>
                              <a:rPr kumimoji="0" lang="en-US" sz="240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</m:ctrlPr>
                          </m:sSubSupPr>
                          <m:e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𝐻</m:t>
                            </m:r>
                          </m:e>
                          <m:sub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𝑘</m:t>
                            </m:r>
                          </m:sub>
                          <m:sup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⊤</m:t>
                            </m:r>
                          </m:sup>
                        </m:sSubSup>
                        <m: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alibri"/>
                          </a:rPr>
                          <m:t>)</m:t>
                        </m:r>
                      </m:oMath>
                    </m:oMathPara>
                  </a14:m>
                  <a:endParaRPr lang="en-CN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marR="0" algn="l" defTabSz="326532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</a:pPr>
                  <a:r>
                    <a:rPr lang="en-CN" sz="21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End for</a:t>
                  </a:r>
                  <a:endParaRPr kumimoji="0" lang="en-CN" sz="2400" b="1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endParaRPr>
                </a:p>
                <a:p>
                  <a:pPr marR="0" algn="l" defTabSz="326532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</a:pPr>
                  <a:r>
                    <a:rPr lang="en-CN" sz="21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Return</a:t>
                  </a:r>
                  <a:r>
                    <a:rPr lang="en-CN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b>
                      </m:sSub>
                    </m:oMath>
                  </a14:m>
                  <a:endParaRPr kumimoji="0" lang="en-CN" sz="240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endParaRPr>
                </a:p>
              </p:txBody>
            </p:sp>
          </mc:Choice>
          <mc:Fallback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A3A92FA-AF20-CCAA-8A58-DE32112F7D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7423" y="14984527"/>
                  <a:ext cx="9219541" cy="4128629"/>
                </a:xfrm>
                <a:prstGeom prst="rect">
                  <a:avLst/>
                </a:prstGeom>
                <a:blipFill>
                  <a:blip r:embed="rId12"/>
                  <a:stretch>
                    <a:fillRect l="-1097" t="-912"/>
                  </a:stretch>
                </a:blipFill>
                <a:ln w="28575" cap="flat">
                  <a:solidFill>
                    <a:srgbClr val="68448B"/>
                  </a:solidFill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CH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68C64DF-3575-7BF6-50F9-854FCDE88557}"/>
              </a:ext>
            </a:extLst>
          </p:cNvPr>
          <p:cNvGrpSpPr/>
          <p:nvPr/>
        </p:nvGrpSpPr>
        <p:grpSpPr>
          <a:xfrm>
            <a:off x="21268" y="0"/>
            <a:ext cx="6756514" cy="3571986"/>
            <a:chOff x="0" y="-130428"/>
            <a:chExt cx="6756514" cy="3571986"/>
          </a:xfrm>
        </p:grpSpPr>
        <p:pic>
          <p:nvPicPr>
            <p:cNvPr id="66" name="Picture 65" descr="A black and white text with a black letter&#10;&#10;Description automatically generated with medium confidence">
              <a:extLst>
                <a:ext uri="{FF2B5EF4-FFF2-40B4-BE49-F238E27FC236}">
                  <a16:creationId xmlns:a16="http://schemas.microsoft.com/office/drawing/2014/main" id="{D69A1D99-F5C9-61C5-74D6-A549E09EF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103096"/>
              <a:ext cx="3800036" cy="3095190"/>
            </a:xfrm>
            <a:prstGeom prst="rect">
              <a:avLst/>
            </a:prstGeom>
          </p:spPr>
        </p:pic>
        <p:pic>
          <p:nvPicPr>
            <p:cNvPr id="4" name="Picture 3" descr="A logo with a red circle and a white circle with a red circle and a white circle with a red circle with a white and blue center with a white circle with a red center with a white&#10;&#10;AI-generated content may be incorrect.">
              <a:extLst>
                <a:ext uri="{FF2B5EF4-FFF2-40B4-BE49-F238E27FC236}">
                  <a16:creationId xmlns:a16="http://schemas.microsoft.com/office/drawing/2014/main" id="{D7FF3205-302E-ED18-AD1E-F51608127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colorTemperature colorTemp="88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184528" y="-130428"/>
              <a:ext cx="3571986" cy="3571986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441588E-94A0-3240-FB36-B64B4B06F192}"/>
              </a:ext>
            </a:extLst>
          </p:cNvPr>
          <p:cNvGrpSpPr/>
          <p:nvPr/>
        </p:nvGrpSpPr>
        <p:grpSpPr>
          <a:xfrm>
            <a:off x="249674" y="16546630"/>
            <a:ext cx="9202837" cy="4729536"/>
            <a:chOff x="249676" y="16913400"/>
            <a:chExt cx="9064534" cy="4729536"/>
          </a:xfrm>
        </p:grpSpPr>
        <p:sp>
          <p:nvSpPr>
            <p:cNvPr id="67" name="TextBox 45">
              <a:extLst>
                <a:ext uri="{FF2B5EF4-FFF2-40B4-BE49-F238E27FC236}">
                  <a16:creationId xmlns:a16="http://schemas.microsoft.com/office/drawing/2014/main" id="{D854008B-39D5-C85A-1659-9E7582943B95}"/>
                </a:ext>
              </a:extLst>
            </p:cNvPr>
            <p:cNvSpPr txBox="1"/>
            <p:nvPr/>
          </p:nvSpPr>
          <p:spPr>
            <a:xfrm>
              <a:off x="249676" y="16913400"/>
              <a:ext cx="9064534" cy="61555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defRPr sz="3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en-CN" b="1"/>
                <a:t>🤝</a:t>
              </a:r>
              <a:r>
                <a:rPr lang="en-US" b="1" dirty="0"/>
                <a:t> Our Contributions</a:t>
              </a:r>
              <a:endParaRPr lang="en-CN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95849E4-1F92-AC0F-983D-6D709A83952A}"/>
                    </a:ext>
                  </a:extLst>
                </p:cNvPr>
                <p:cNvSpPr txBox="1"/>
                <p:nvPr/>
              </p:nvSpPr>
              <p:spPr>
                <a:xfrm>
                  <a:off x="325701" y="17634981"/>
                  <a:ext cx="8988509" cy="400795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342900" indent="-342900">
                    <a:buSzPct val="100000"/>
                    <a:buFont typeface="Wingdings" panose="05000000000000000000" pitchFamily="2" charset="2"/>
                    <a:buChar char="§"/>
                    <a:defRPr sz="2100">
                      <a:solidFill>
                        <a:srgbClr val="344854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defRPr>
                  </a:pPr>
                  <a:r>
                    <a:rPr lang="en-US" sz="2100" b="1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rPr>
                    <a:t>KOALA++</a:t>
                  </a:r>
                  <a:r>
                    <a:rPr lang="en-US" sz="2100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rPr>
                    <a:t>: a Kalman-inspired optimizer that propagates structured gradient uncertainty via covariance modeling</a:t>
                  </a:r>
                  <a:br>
                    <a:rPr lang="en-US" sz="2100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rPr>
                  </a:br>
                  <a:endParaRPr lang="en-US" sz="2100" dirty="0">
                    <a:solidFill>
                      <a:srgbClr val="344854"/>
                    </a:solidFill>
                    <a:latin typeface="Arial" panose="020B0604020202090204"/>
                    <a:cs typeface="Arial" panose="020B0604020202090204"/>
                    <a:sym typeface="Arial"/>
                  </a:endParaRPr>
                </a:p>
                <a:p>
                  <a:pPr marL="342900" indent="-342900">
                    <a:buSzPct val="100000"/>
                    <a:buFont typeface="Wingdings" panose="05000000000000000000" pitchFamily="2" charset="2"/>
                    <a:buChar char="§"/>
                    <a:defRPr sz="2100">
                      <a:solidFill>
                        <a:srgbClr val="344854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defRPr>
                  </a:pPr>
                  <a:r>
                    <a:rPr lang="en-US" sz="2100" b="1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rPr>
                    <a:t>Efficient recursion</a:t>
                  </a:r>
                  <a:r>
                    <a:rPr lang="en-US" sz="2100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rPr>
                    <a:t>: update for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𝑘</m:t>
                          </m:r>
                        </m:sub>
                      </m:sSub>
                      <m:r>
                        <a:rPr lang="en-US" altLang="zh-CN" sz="2400">
                          <a:solidFill>
                            <a:srgbClr val="344854"/>
                          </a:solidFill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k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𝑘</m:t>
                          </m:r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−1</m:t>
                          </m:r>
                        </m:sub>
                      </m:sSub>
                    </m:oMath>
                  </a14:m>
                  <a:r>
                    <a:rPr lang="en-US" sz="2100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rPr>
                    <a:t> that removes the need to assume structure for the full covariance</a:t>
                  </a:r>
                  <a:br>
                    <a:rPr lang="en-US" sz="2100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rPr>
                  </a:br>
                  <a:endParaRPr lang="en-US" sz="2100" dirty="0">
                    <a:solidFill>
                      <a:srgbClr val="344854"/>
                    </a:solidFill>
                    <a:latin typeface="Arial" panose="020B0604020202090204"/>
                    <a:cs typeface="Arial" panose="020B0604020202090204"/>
                    <a:sym typeface="Arial"/>
                  </a:endParaRPr>
                </a:p>
                <a:p>
                  <a:pPr marL="342900" indent="-342900">
                    <a:buSzPct val="100000"/>
                    <a:buFont typeface="Wingdings" panose="05000000000000000000" pitchFamily="2" charset="2"/>
                    <a:buChar char="§"/>
                    <a:defRPr sz="2100">
                      <a:solidFill>
                        <a:srgbClr val="344854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defRPr>
                  </a:pPr>
                  <a:r>
                    <a:rPr lang="en-US" sz="2100" b="1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rPr>
                    <a:t>Lightweight &amp; practical</a:t>
                  </a:r>
                  <a:r>
                    <a:rPr lang="en-US" sz="2100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rPr>
                    <a:t>: minimal overhead; validated across diverse architectures and tasks implement</a:t>
                  </a:r>
                </a:p>
                <a:p>
                  <a:pPr marL="342900" indent="-342900">
                    <a:buSzPct val="100000"/>
                    <a:buFont typeface="Wingdings" panose="05000000000000000000" pitchFamily="2" charset="2"/>
                    <a:buChar char="§"/>
                    <a:defRPr sz="2100">
                      <a:solidFill>
                        <a:srgbClr val="344854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defRPr>
                  </a:pPr>
                  <a:endParaRPr lang="en-US" sz="2100" dirty="0">
                    <a:solidFill>
                      <a:srgbClr val="344854"/>
                    </a:solidFill>
                    <a:latin typeface="Arial" panose="020B0604020202090204"/>
                    <a:cs typeface="Arial" panose="020B0604020202090204"/>
                    <a:sym typeface="Arial"/>
                  </a:endParaRPr>
                </a:p>
                <a:p>
                  <a:pPr marL="342900" indent="-342900">
                    <a:buSzPct val="100000"/>
                    <a:buFont typeface="Wingdings" panose="05000000000000000000" pitchFamily="2" charset="2"/>
                    <a:buChar char="§"/>
                    <a:defRPr sz="2100">
                      <a:solidFill>
                        <a:srgbClr val="344854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defRPr>
                  </a:pPr>
                  <a:r>
                    <a:rPr lang="en-US" sz="2100" b="1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rPr>
                    <a:t>Stronger trade-offs</a:t>
                  </a:r>
                  <a:r>
                    <a:rPr lang="en-US" sz="2100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rPr>
                    <a:t>: consistently better efficiency—performance than first- and second-order baselines</a:t>
                  </a:r>
                </a:p>
                <a:p>
                  <a:pPr marL="342900" marR="0" indent="-342900" algn="l" defTabSz="326532" rtl="0" fontAlgn="auto" latinLnBrk="0" hangingPunct="0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Wingdings" panose="05000000000000000000" pitchFamily="2" charset="2"/>
                    <a:buChar char="§"/>
                    <a:tabLst/>
                  </a:pPr>
                  <a:endParaRPr lang="en-CH" sz="2100" dirty="0">
                    <a:solidFill>
                      <a:srgbClr val="344854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95849E4-1F92-AC0F-983D-6D709A8395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701" y="17634981"/>
                  <a:ext cx="8988509" cy="4007955"/>
                </a:xfrm>
                <a:prstGeom prst="rect">
                  <a:avLst/>
                </a:prstGeom>
                <a:blipFill>
                  <a:blip r:embed="rId16"/>
                  <a:stretch>
                    <a:fillRect l="-1111" t="-94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CH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CA59C4-C0CE-7ABC-EE9A-9E93FB9E8DAF}"/>
              </a:ext>
            </a:extLst>
          </p:cNvPr>
          <p:cNvGrpSpPr/>
          <p:nvPr/>
        </p:nvGrpSpPr>
        <p:grpSpPr>
          <a:xfrm>
            <a:off x="249676" y="3295764"/>
            <a:ext cx="9202837" cy="9486133"/>
            <a:chOff x="249676" y="3295764"/>
            <a:chExt cx="9202837" cy="94861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062028DB-C283-C67E-5A19-46310EFC870C}"/>
                    </a:ext>
                  </a:extLst>
                </p:cNvPr>
                <p:cNvSpPr/>
                <p:nvPr/>
              </p:nvSpPr>
              <p:spPr>
                <a:xfrm>
                  <a:off x="1731810" y="5887303"/>
                  <a:ext cx="6061571" cy="999952"/>
                </a:xfrm>
                <a:prstGeom prst="rect">
                  <a:avLst/>
                </a:prstGeom>
                <a:noFill/>
                <a:ln w="28575" cap="flat">
                  <a:solidFill>
                    <a:srgbClr val="68448B"/>
                  </a:solidFill>
                  <a:prstDash val="solid"/>
                  <a:miter lim="8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:pPr>
                    <a:lnSpc>
                      <a:spcPct val="120000"/>
                    </a:lnSpc>
                    <a:buSzPct val="100000"/>
                    <a:defRPr sz="2100">
                      <a:solidFill>
                        <a:srgbClr val="344854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400">
                            <a:solidFill>
                              <a:srgbClr val="344854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𝑘</m:t>
                            </m:r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2400">
                            <a:solidFill>
                              <a:srgbClr val="344854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𝑘</m:t>
                            </m:r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2400">
                            <a:solidFill>
                              <a:srgbClr val="344854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      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400">
                            <a:solidFill>
                              <a:srgbClr val="344854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~</m:t>
                        </m:r>
                        <m:r>
                          <a:rPr lang="en-US" altLang="zh-CN" sz="2400">
                            <a:solidFill>
                              <a:srgbClr val="344854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𝑁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0, 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344854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solidFill>
                                      <a:srgbClr val="344854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altLang="zh-CN" sz="2400">
                                    <a:solidFill>
                                      <a:srgbClr val="344854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sz="2400" dirty="0">
                    <a:solidFill>
                      <a:srgbClr val="344854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/>
                  </a:endParaRPr>
                </a:p>
                <a:p>
                  <a:pPr>
                    <a:lnSpc>
                      <a:spcPct val="120000"/>
                    </a:lnSpc>
                    <a:buSzPct val="100000"/>
                    <a:defRPr sz="2100">
                      <a:solidFill>
                        <a:srgbClr val="344854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344854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solidFill>
                                      <a:srgbClr val="344854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altLang="zh-CN" sz="2400">
                                    <a:solidFill>
                                      <a:srgbClr val="344854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𝑘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𝑡𝑎𝑟𝑔𝑒𝑡</m:t>
                            </m:r>
                          </m:sup>
                        </m:sSup>
                        <m:r>
                          <a:rPr lang="en-US" altLang="zh-CN" sz="2400">
                            <a:solidFill>
                              <a:srgbClr val="344854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344854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solidFill>
                                      <a:srgbClr val="344854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zh-CN" sz="2400">
                                    <a:solidFill>
                                      <a:srgbClr val="344854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>
                            <a:solidFill>
                              <a:srgbClr val="344854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u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400">
                            <a:solidFill>
                              <a:srgbClr val="344854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  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400">
                            <a:solidFill>
                              <a:srgbClr val="344854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~</m:t>
                        </m:r>
                        <m:r>
                          <a:rPr lang="en-US" altLang="zh-CN" sz="2400">
                            <a:solidFill>
                              <a:srgbClr val="344854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𝑁</m:t>
                        </m:r>
                        <m:r>
                          <a:rPr lang="en-US" altLang="zh-CN" sz="2400">
                            <a:solidFill>
                              <a:srgbClr val="344854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(0, 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400">
                            <a:solidFill>
                              <a:srgbClr val="344854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) </m:t>
                        </m:r>
                      </m:oMath>
                    </m:oMathPara>
                  </a14:m>
                  <a:endParaRPr lang="en-US" sz="2400" dirty="0">
                    <a:solidFill>
                      <a:srgbClr val="344854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062028DB-C283-C67E-5A19-46310EFC87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810" y="5887303"/>
                  <a:ext cx="6061571" cy="99995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28575" cap="flat">
                  <a:solidFill>
                    <a:srgbClr val="68448B"/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en-CH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7F552F7-3B64-63B0-5D64-F025AF6AD65D}"/>
                </a:ext>
              </a:extLst>
            </p:cNvPr>
            <p:cNvGrpSpPr/>
            <p:nvPr/>
          </p:nvGrpSpPr>
          <p:grpSpPr>
            <a:xfrm>
              <a:off x="249676" y="3295764"/>
              <a:ext cx="9202837" cy="9486133"/>
              <a:chOff x="325701" y="3295764"/>
              <a:chExt cx="9242291" cy="9486133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2BE46EC0-BE36-D59A-5B0A-51F8BF2EB30D}"/>
                      </a:ext>
                    </a:extLst>
                  </p:cNvPr>
                  <p:cNvSpPr txBox="1"/>
                  <p:nvPr/>
                </p:nvSpPr>
                <p:spPr>
                  <a:xfrm>
                    <a:off x="325701" y="3976473"/>
                    <a:ext cx="9242291" cy="8805424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wrap="square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  <a:buSzPct val="100000"/>
                      <a:defRPr sz="2100">
                        <a:solidFill>
                          <a:srgbClr val="344854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defRPr>
                    </a:pPr>
                    <a:r>
                      <a:rPr lang="en-US" sz="2100" dirty="0">
                        <a:solidFill>
                          <a:srgbClr val="344854"/>
                        </a:solidFill>
                        <a:latin typeface="Arial" panose="020B0604020202090204"/>
                        <a:cs typeface="Arial" panose="020B0604020202090204"/>
                        <a:sym typeface="Arial"/>
                      </a:rPr>
                      <a:t>Kalman Filtering can be used as a second-order method to train DNNs</a:t>
                    </a:r>
                  </a:p>
                  <a:p>
                    <a:pPr>
                      <a:lnSpc>
                        <a:spcPct val="120000"/>
                      </a:lnSpc>
                      <a:buSzPct val="100000"/>
                      <a:defRPr sz="2100">
                        <a:solidFill>
                          <a:srgbClr val="344854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defRPr>
                    </a:pPr>
                    <a:r>
                      <a:rPr lang="en-US" sz="2100" b="1" dirty="0">
                        <a:solidFill>
                          <a:srgbClr val="344854"/>
                        </a:solidFill>
                        <a:latin typeface="Arial" panose="020B0604020202090204"/>
                        <a:cs typeface="Arial" panose="020B0604020202090204"/>
                        <a:sym typeface="Arial"/>
                      </a:rPr>
                      <a:t>Key Idea</a:t>
                    </a:r>
                    <a:r>
                      <a:rPr lang="en-US" sz="2100" dirty="0">
                        <a:solidFill>
                          <a:srgbClr val="344854"/>
                        </a:solidFill>
                        <a:latin typeface="Arial" panose="020B0604020202090204"/>
                        <a:cs typeface="Arial" panose="020B0604020202090204"/>
                        <a:sym typeface="Arial"/>
                      </a:rPr>
                      <a:t>: Treat DNN’s parameters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400">
                            <a:solidFill>
                              <a:srgbClr val="344854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 </m:t>
                        </m:r>
                      </m:oMath>
                    </a14:m>
                    <a:r>
                      <a:rPr lang="en-US" sz="2100" dirty="0">
                        <a:solidFill>
                          <a:srgbClr val="344854"/>
                        </a:solidFill>
                        <a:latin typeface="Arial" panose="020B0604020202090204"/>
                        <a:cs typeface="Arial" panose="020B0604020202090204"/>
                        <a:sym typeface="Arial"/>
                      </a:rPr>
                      <a:t>as dynamically evolving hidden states and the minibatch losses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344854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solidFill>
                                      <a:srgbClr val="344854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zh-CN" sz="2400">
                                    <a:solidFill>
                                      <a:srgbClr val="344854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>
                            <a:solidFill>
                              <a:srgbClr val="344854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 </m:t>
                        </m:r>
                      </m:oMath>
                    </a14:m>
                    <a:r>
                      <a:rPr lang="en-US" sz="2100" dirty="0">
                        <a:solidFill>
                          <a:srgbClr val="344854"/>
                        </a:solidFill>
                        <a:latin typeface="Arial" panose="020B0604020202090204"/>
                        <a:cs typeface="Arial" panose="020B0604020202090204"/>
                        <a:sym typeface="Arial"/>
                      </a:rPr>
                      <a:t> as noisy measurements:</a:t>
                    </a:r>
                  </a:p>
                  <a:p>
                    <a:pPr>
                      <a:lnSpc>
                        <a:spcPct val="120000"/>
                      </a:lnSpc>
                      <a:buSzPct val="100000"/>
                      <a:defRPr sz="2100">
                        <a:solidFill>
                          <a:srgbClr val="344854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defRPr>
                    </a:pPr>
                    <a:endParaRPr lang="en-US" sz="2100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endParaRPr>
                  </a:p>
                  <a:p>
                    <a:pPr>
                      <a:lnSpc>
                        <a:spcPct val="120000"/>
                      </a:lnSpc>
                      <a:buSzPct val="100000"/>
                      <a:defRPr sz="2100">
                        <a:solidFill>
                          <a:srgbClr val="344854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defRPr>
                    </a:pPr>
                    <a:endParaRPr lang="en-US" sz="2100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endParaRPr>
                  </a:p>
                  <a:p>
                    <a:pPr>
                      <a:lnSpc>
                        <a:spcPct val="120000"/>
                      </a:lnSpc>
                      <a:buSzPct val="100000"/>
                      <a:defRPr sz="2100">
                        <a:solidFill>
                          <a:srgbClr val="344854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defRPr>
                    </a:pPr>
                    <a:endParaRPr lang="en-US" sz="2100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endParaRPr>
                  </a:p>
                  <a:p>
                    <a:pPr>
                      <a:lnSpc>
                        <a:spcPct val="120000"/>
                      </a:lnSpc>
                      <a:buSzPct val="100000"/>
                      <a:defRPr sz="2100">
                        <a:solidFill>
                          <a:srgbClr val="344854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defRPr>
                    </a:pPr>
                    <a:endParaRPr lang="en-US" sz="2100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endParaRPr>
                  </a:p>
                  <a:p>
                    <a:pPr>
                      <a:lnSpc>
                        <a:spcPct val="120000"/>
                      </a:lnSpc>
                      <a:buSzPct val="100000"/>
                      <a:defRPr sz="2100">
                        <a:solidFill>
                          <a:srgbClr val="344854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defRPr>
                    </a:pPr>
                    <a:endParaRPr lang="en-US" sz="2100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endParaRPr>
                  </a:p>
                  <a:p>
                    <a:pPr>
                      <a:lnSpc>
                        <a:spcPct val="120000"/>
                      </a:lnSpc>
                      <a:buSzPct val="100000"/>
                      <a:defRPr sz="2100">
                        <a:solidFill>
                          <a:srgbClr val="344854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defRPr>
                    </a:pPr>
                    <a:r>
                      <a:rPr lang="en-US" sz="2100" dirty="0">
                        <a:solidFill>
                          <a:srgbClr val="344854"/>
                        </a:solidFill>
                        <a:latin typeface="Arial" panose="020B0604020202090204"/>
                        <a:cs typeface="Arial" panose="020B0604020202090204"/>
                        <a:sym typeface="Arial"/>
                      </a:rPr>
                      <a:t>The Extended Kalman Filter estimates the system’s states from a sequence of observations:</a:t>
                    </a:r>
                    <a:br>
                      <a:rPr lang="en-US" sz="2100" dirty="0">
                        <a:solidFill>
                          <a:srgbClr val="344854"/>
                        </a:solidFill>
                        <a:latin typeface="Arial" panose="020B0604020202090204"/>
                        <a:cs typeface="Arial" panose="020B0604020202090204"/>
                        <a:sym typeface="Arial"/>
                      </a:rPr>
                    </a:br>
                    <a:endParaRPr lang="en-US" sz="2100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endParaRPr>
                  </a:p>
                  <a:p>
                    <a:pPr>
                      <a:lnSpc>
                        <a:spcPct val="120000"/>
                      </a:lnSpc>
                      <a:buSzPct val="100000"/>
                      <a:defRPr sz="2100">
                        <a:solidFill>
                          <a:srgbClr val="344854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defRPr>
                    </a:pPr>
                    <a:endParaRPr lang="en-US" sz="2100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endParaRPr>
                  </a:p>
                  <a:p>
                    <a:pPr>
                      <a:lnSpc>
                        <a:spcPct val="120000"/>
                      </a:lnSpc>
                      <a:buSzPct val="100000"/>
                      <a:defRPr sz="2100">
                        <a:solidFill>
                          <a:srgbClr val="344854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defRPr>
                    </a:pPr>
                    <a:endParaRPr lang="en-US" sz="2100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endParaRPr>
                  </a:p>
                  <a:p>
                    <a:pPr>
                      <a:lnSpc>
                        <a:spcPct val="120000"/>
                      </a:lnSpc>
                      <a:buSzPct val="100000"/>
                      <a:defRPr sz="2100">
                        <a:solidFill>
                          <a:srgbClr val="344854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defRPr>
                    </a:pPr>
                    <a:endParaRPr lang="en-US" sz="2100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endParaRPr>
                  </a:p>
                  <a:p>
                    <a:pPr>
                      <a:lnSpc>
                        <a:spcPct val="120000"/>
                      </a:lnSpc>
                      <a:buSzPct val="100000"/>
                      <a:defRPr sz="2100">
                        <a:solidFill>
                          <a:srgbClr val="344854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defRPr>
                    </a:pPr>
                    <a:endParaRPr lang="en-US" sz="2100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endParaRPr>
                  </a:p>
                  <a:p>
                    <a:pPr>
                      <a:lnSpc>
                        <a:spcPct val="120000"/>
                      </a:lnSpc>
                      <a:buSzPct val="100000"/>
                      <a:defRPr sz="2100">
                        <a:solidFill>
                          <a:srgbClr val="344854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defRPr>
                    </a:pPr>
                    <a:endParaRPr lang="en-US" sz="2100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endParaRPr>
                  </a:p>
                  <a:p>
                    <a:pPr>
                      <a:lnSpc>
                        <a:spcPct val="120000"/>
                      </a:lnSpc>
                      <a:buSzPct val="100000"/>
                      <a:defRPr sz="2100">
                        <a:solidFill>
                          <a:srgbClr val="344854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defRPr>
                    </a:pPr>
                    <a:endParaRPr lang="en-US" sz="2100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endParaRPr>
                  </a:p>
                  <a:p>
                    <a:pPr>
                      <a:lnSpc>
                        <a:spcPct val="120000"/>
                      </a:lnSpc>
                      <a:buSzPct val="100000"/>
                      <a:defRPr sz="2100">
                        <a:solidFill>
                          <a:srgbClr val="344854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defRPr>
                    </a:pPr>
                    <a:r>
                      <a:rPr lang="en-CH" sz="2100" dirty="0">
                        <a:solidFill>
                          <a:srgbClr val="344854"/>
                        </a:solidFill>
                        <a:latin typeface="Arial" panose="020B0604020202090204"/>
                        <a:cs typeface="Arial" panose="020B0604020202090204"/>
                        <a:sym typeface="Arial" panose="020B0604020202090204"/>
                      </a:rPr>
                      <a:t>✅ </a:t>
                    </a:r>
                    <a:r>
                      <a:rPr lang="en-US" sz="2100" dirty="0">
                        <a:solidFill>
                          <a:srgbClr val="344854"/>
                        </a:solidFill>
                        <a:latin typeface="Arial" panose="020B0604020202090204"/>
                        <a:cs typeface="Arial" panose="020B0604020202090204"/>
                        <a:sym typeface="Arial"/>
                      </a:rPr>
                      <a:t>These equations define an optimization algorithm targeting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344854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solidFill>
                                      <a:srgbClr val="344854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344854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k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𝑡𝑎𝑟𝑔𝑒𝑡</m:t>
                            </m:r>
                          </m:sup>
                        </m:sSup>
                      </m:oMath>
                    </a14:m>
                    <a:r>
                      <a:rPr lang="en-US" sz="2100" dirty="0">
                        <a:solidFill>
                          <a:srgbClr val="344854"/>
                        </a:solidFill>
                        <a:latin typeface="Arial" panose="020B0604020202090204"/>
                        <a:cs typeface="Arial" panose="020B0604020202090204"/>
                        <a:sym typeface="Arial"/>
                      </a:rPr>
                      <a:t> loss</a:t>
                    </a:r>
                  </a:p>
                  <a:p>
                    <a:pPr>
                      <a:lnSpc>
                        <a:spcPct val="120000"/>
                      </a:lnSpc>
                      <a:buSzPct val="100000"/>
                      <a:defRPr sz="2100">
                        <a:solidFill>
                          <a:srgbClr val="344854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defRPr>
                    </a:pPr>
                    <a:r>
                      <a:rPr lang="en-CH" sz="2100" dirty="0">
                        <a:solidFill>
                          <a:srgbClr val="344854"/>
                        </a:solidFill>
                        <a:latin typeface="Arial" panose="020B0604020202090204"/>
                        <a:cs typeface="Arial" panose="020B0604020202090204"/>
                        <a:sym typeface="Arial" panose="020B0604020202090204"/>
                      </a:rPr>
                      <a:t>✅ </a:t>
                    </a:r>
                    <a:r>
                      <a:rPr lang="en-US" sz="2100" dirty="0">
                        <a:solidFill>
                          <a:srgbClr val="344854"/>
                        </a:solidFill>
                        <a:latin typeface="Arial" panose="020B0604020202090204"/>
                        <a:cs typeface="Arial" panose="020B0604020202090204"/>
                        <a:sym typeface="Arial"/>
                      </a:rPr>
                      <a:t>The covariance estimate makes it a second-order method with stronger theoretical convergence guarantees</a:t>
                    </a:r>
                  </a:p>
                  <a:p>
                    <a:pPr>
                      <a:lnSpc>
                        <a:spcPct val="120000"/>
                      </a:lnSpc>
                      <a:buSzPct val="100000"/>
                      <a:defRPr sz="2100">
                        <a:solidFill>
                          <a:srgbClr val="344854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defRPr>
                    </a:pPr>
                    <a:r>
                      <a:rPr lang="en-CH" sz="2100" dirty="0">
                        <a:solidFill>
                          <a:srgbClr val="344854"/>
                        </a:solidFill>
                        <a:latin typeface="Arial" panose="020B0604020202090204"/>
                        <a:cs typeface="Arial" panose="020B0604020202090204"/>
                        <a:sym typeface="Arial" panose="020B0604020202090204"/>
                      </a:rPr>
                      <a:t>❌ </a:t>
                    </a:r>
                    <a:r>
                      <a:rPr lang="en-US" sz="2100" dirty="0">
                        <a:solidFill>
                          <a:srgbClr val="344854"/>
                        </a:solidFill>
                        <a:latin typeface="Arial" panose="020B0604020202090204"/>
                        <a:cs typeface="Arial" panose="020B0604020202090204"/>
                        <a:sym typeface="Arial"/>
                      </a:rPr>
                      <a:t>Naïve implementation is computationally and memory-demanding due to storing and processing of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344854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𝑘</m:t>
                            </m:r>
                          </m:sub>
                        </m:sSub>
                      </m:oMath>
                    </a14:m>
                    <a:endParaRPr lang="en-US" sz="2400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endParaRPr>
                  </a:p>
                </p:txBody>
              </p:sp>
            </mc:Choice>
            <mc:Fallback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2BE46EC0-BE36-D59A-5B0A-51F8BF2EB3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5701" y="3976473"/>
                    <a:ext cx="9242291" cy="8805424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826" r="-413" b="-288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C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3" name="TextBox 38"/>
              <p:cNvSpPr txBox="1"/>
              <p:nvPr/>
            </p:nvSpPr>
            <p:spPr>
              <a:xfrm>
                <a:off x="325702" y="3295764"/>
                <a:ext cx="9064534" cy="96949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>
                <a:lvl1pPr>
                  <a:defRPr sz="34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rPr lang="en-CN" sz="3600" b="1" dirty="0"/>
                  <a:t>📉 </a:t>
                </a:r>
                <a:r>
                  <a:rPr lang="en-US" sz="3400" b="1" dirty="0"/>
                  <a:t>Training DNNs with Kalman Filtering</a:t>
                </a:r>
                <a:endParaRPr lang="en-CN" sz="3400" b="1" dirty="0"/>
              </a:p>
              <a:p>
                <a:endParaRPr sz="2100" dirty="0">
                  <a:solidFill>
                    <a:srgbClr val="344854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12820A1B-C602-FB77-3CFF-DF4BC0EDBC43}"/>
                    </a:ext>
                  </a:extLst>
                </p:cNvPr>
                <p:cNvSpPr/>
                <p:nvPr/>
              </p:nvSpPr>
              <p:spPr>
                <a:xfrm>
                  <a:off x="357466" y="8380339"/>
                  <a:ext cx="8810260" cy="1942133"/>
                </a:xfrm>
                <a:prstGeom prst="rect">
                  <a:avLst/>
                </a:prstGeom>
                <a:noFill/>
                <a:ln w="28575" cap="flat">
                  <a:solidFill>
                    <a:srgbClr val="68448B"/>
                  </a:solidFill>
                  <a:prstDash val="solid"/>
                  <a:miter lim="8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:pPr>
                    <a:lnSpc>
                      <a:spcPct val="120000"/>
                    </a:lnSpc>
                    <a:buSzPct val="100000"/>
                    <a:defRPr sz="2100">
                      <a:solidFill>
                        <a:srgbClr val="344854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defRPr>
                  </a:pPr>
                  <a:r>
                    <a:rPr lang="en-US" altLang="zh-CN" sz="2400" dirty="0">
                      <a:solidFill>
                        <a:srgbClr val="344854"/>
                      </a:solidFill>
                      <a:sym typeface="Arial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k</m:t>
                          </m:r>
                        </m:sub>
                      </m:sSub>
                      <m:r>
                        <a:rPr lang="en-US" altLang="zh-CN" sz="2400">
                          <a:solidFill>
                            <a:srgbClr val="344854"/>
                          </a:solidFill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𝑘</m:t>
                              </m:r>
                              <m:r>
                                <a:rPr lang="en-US" altLang="zh-CN" sz="2400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+</m:t>
                          </m:r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𝑄𝐼</m:t>
                          </m:r>
                        </m:e>
                      </m:d>
                      <m:sSup>
                        <m:sSupPr>
                          <m:ctrlPr>
                            <a:rPr lang="en-US" altLang="zh-CN" sz="2400" i="1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𝑘</m:t>
                              </m:r>
                            </m:sub>
                          </m:sSub>
                        </m:e>
                        <m:sup>
                          <m:r>
                            <a:rPr lang="en-US" altLang="zh-CN" sz="2400" b="0" i="1" smtClean="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⊤</m:t>
                          </m:r>
                        </m:sup>
                      </m:sSup>
                      <m:r>
                        <a:rPr lang="en-US" altLang="zh-CN" sz="2400">
                          <a:solidFill>
                            <a:srgbClr val="344854"/>
                          </a:solidFill>
                          <a:latin typeface="Cambria Math" panose="02040503050406030204" pitchFamily="18" charset="0"/>
                          <a:sym typeface="Arial"/>
                        </a:rPr>
                        <m:t>, 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 </m:t>
                          </m:r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𝐾</m:t>
                          </m:r>
                        </m:sub>
                      </m:sSub>
                      <m:r>
                        <a:rPr lang="en-US" altLang="zh-CN" sz="2400">
                          <a:solidFill>
                            <a:srgbClr val="344854"/>
                          </a:solidFill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r>
                        <a:rPr lang="en-US" altLang="zh-CN" sz="2400">
                          <a:solidFill>
                            <a:srgbClr val="344854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𝛁</m:t>
                      </m:r>
                      <m:sSubSup>
                        <m:sSubSupPr>
                          <m:ctrlPr>
                            <a:rPr lang="en-US" altLang="zh-CN" sz="2400" i="1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SupPr>
                        <m:e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⊤</m:t>
                          </m:r>
                        </m:sup>
                      </m:sSubSup>
                      <m:r>
                        <a:rPr lang="en-US" altLang="zh-CN" sz="2400">
                          <a:solidFill>
                            <a:srgbClr val="344854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𝑘</m:t>
                          </m:r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−1</m:t>
                          </m:r>
                        </m:sub>
                      </m:sSub>
                      <m:r>
                        <a:rPr lang="en-US" altLang="zh-CN" sz="2400">
                          <a:solidFill>
                            <a:srgbClr val="344854"/>
                          </a:solidFill>
                          <a:latin typeface="Cambria Math" panose="02040503050406030204" pitchFamily="18" charset="0"/>
                          <a:sym typeface="Arial"/>
                        </a:rPr>
                        <m:t>)</m:t>
                      </m:r>
                    </m:oMath>
                  </a14:m>
                  <a:r>
                    <a:rPr lang="en-US" altLang="zh-CN" sz="2400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rPr>
                    <a:t>      </a:t>
                  </a:r>
                  <a:r>
                    <a:rPr lang="en-US" altLang="zh-CN" sz="2100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rPr>
                    <a:t>  </a:t>
                  </a:r>
                  <a:r>
                    <a:rPr lang="en-US" altLang="zh-CN" i="1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rPr>
                    <a:t>innovation covariance</a:t>
                  </a:r>
                </a:p>
                <a:p>
                  <a:pPr>
                    <a:lnSpc>
                      <a:spcPct val="120000"/>
                    </a:lnSpc>
                    <a:buSzPct val="100000"/>
                    <a:defRPr sz="2100">
                      <a:solidFill>
                        <a:srgbClr val="344854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defRPr>
                  </a:pPr>
                  <a14:m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344854"/>
                          </a:solidFill>
                          <a:latin typeface="Cambria Math" panose="02040503050406030204" pitchFamily="18" charset="0"/>
                          <a:sym typeface="Arial"/>
                        </a:rPr>
                        <m:t> 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𝑘</m:t>
                          </m:r>
                        </m:sub>
                      </m:sSub>
                      <m:r>
                        <a:rPr lang="en-US" altLang="zh-CN" sz="2400">
                          <a:solidFill>
                            <a:srgbClr val="344854"/>
                          </a:solidFill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𝑘</m:t>
                              </m:r>
                              <m:r>
                                <a:rPr lang="en-US" altLang="zh-CN" sz="2400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+</m:t>
                          </m:r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𝑄𝐼</m:t>
                          </m:r>
                        </m:e>
                      </m:d>
                      <m:sSup>
                        <m:sSupPr>
                          <m:ctrlPr>
                            <a:rPr lang="en-US" altLang="zh-CN" sz="2400" i="1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𝐻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k</m:t>
                              </m:r>
                            </m:sub>
                          </m:sSub>
                        </m:e>
                        <m:sup>
                          <m:r>
                            <a:rPr lang="en-US" altLang="zh-CN" sz="2400" b="0" i="1" smtClean="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⊤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2400" i="1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SupPr>
                        <m:e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−1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rPr>
                    <a:t>                                                    </a:t>
                  </a:r>
                  <a:r>
                    <a:rPr lang="en-US" altLang="zh-CN" i="1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rPr>
                    <a:t>Kalman gain</a:t>
                  </a:r>
                </a:p>
                <a:p>
                  <a:pPr>
                    <a:lnSpc>
                      <a:spcPct val="120000"/>
                    </a:lnSpc>
                    <a:buSzPct val="100000"/>
                    <a:defRPr sz="2100">
                      <a:solidFill>
                        <a:srgbClr val="344854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defRPr>
                  </a:pPr>
                  <a14:m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344854"/>
                          </a:solidFill>
                          <a:latin typeface="Cambria Math" panose="02040503050406030204" pitchFamily="18" charset="0"/>
                          <a:sym typeface="Arial"/>
                        </a:rPr>
                        <m:t> 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𝑘</m:t>
                          </m:r>
                        </m:sub>
                      </m:sSub>
                      <m:r>
                        <a:rPr lang="en-US" altLang="zh-CN" sz="2400">
                          <a:solidFill>
                            <a:srgbClr val="344854"/>
                          </a:solidFill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𝐼</m:t>
                          </m:r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sz="2400" i="1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𝑘</m:t>
                              </m:r>
                              <m:r>
                                <a:rPr lang="en-US" altLang="zh-CN" sz="2400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+</m:t>
                          </m:r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𝑄𝐼</m:t>
                          </m:r>
                        </m:e>
                      </m:d>
                    </m:oMath>
                  </a14:m>
                  <a:r>
                    <a:rPr lang="en-US" altLang="zh-CN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rPr>
                    <a:t>             </a:t>
                  </a:r>
                  <a:r>
                    <a:rPr lang="en-US" altLang="zh-CN" i="1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rPr>
                    <a:t>posterior covariance of the states</a:t>
                  </a:r>
                </a:p>
                <a:p>
                  <a:pPr>
                    <a:lnSpc>
                      <a:spcPct val="120000"/>
                    </a:lnSpc>
                    <a:buSzPct val="100000"/>
                    <a:defRPr sz="2100">
                      <a:solidFill>
                        <a:srgbClr val="344854"/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  <a:sym typeface="Arial" panose="020B0604020202090204"/>
                    </a:defRPr>
                  </a:pPr>
                  <a:r>
                    <a:rPr lang="en-US" altLang="zh-CN" sz="2400" dirty="0">
                      <a:solidFill>
                        <a:srgbClr val="344854"/>
                      </a:solidFill>
                      <a:sym typeface="Arial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𝑘</m:t>
                          </m:r>
                        </m:sub>
                      </m:sSub>
                      <m:r>
                        <a:rPr lang="en-US" altLang="zh-CN" sz="2400">
                          <a:solidFill>
                            <a:srgbClr val="344854"/>
                          </a:solidFill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𝑘</m:t>
                          </m:r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−1</m:t>
                          </m:r>
                        </m:sub>
                      </m:sSub>
                      <m:r>
                        <a:rPr lang="en-US" altLang="zh-CN" sz="2400">
                          <a:solidFill>
                            <a:srgbClr val="344854"/>
                          </a:solidFill>
                          <a:latin typeface="Cambria Math" panose="02040503050406030204" pitchFamily="18" charset="0"/>
                          <a:sym typeface="Arial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𝑘</m:t>
                          </m:r>
                        </m:sub>
                      </m:sSub>
                      <m:r>
                        <a:rPr lang="en-US" altLang="zh-CN" sz="2400">
                          <a:solidFill>
                            <a:srgbClr val="344854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344854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k</m:t>
                              </m:r>
                            </m:sub>
                          </m:sSub>
                        </m:e>
                        <m:sup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𝑡𝑎𝑟𝑔𝑒𝑡</m:t>
                          </m:r>
                        </m:sup>
                      </m:sSup>
                      <m:r>
                        <a:rPr lang="en-US" altLang="zh-CN" sz="2400">
                          <a:solidFill>
                            <a:srgbClr val="344854"/>
                          </a:solidFill>
                          <a:latin typeface="Cambria Math" panose="02040503050406030204" pitchFamily="18" charset="0"/>
                          <a:sym typeface="Arial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𝑘</m:t>
                          </m:r>
                        </m:sub>
                      </m:sSub>
                      <m:r>
                        <a:rPr lang="en-US" altLang="zh-CN" sz="2400">
                          <a:solidFill>
                            <a:srgbClr val="344854"/>
                          </a:solidFill>
                          <a:latin typeface="Cambria Math" panose="02040503050406030204" pitchFamily="18" charset="0"/>
                          <a:sym typeface="Arial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𝑘</m:t>
                          </m:r>
                          <m:r>
                            <a:rPr lang="en-US" altLang="zh-CN" sz="2400">
                              <a:solidFill>
                                <a:srgbClr val="344854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−1</m:t>
                          </m:r>
                        </m:sub>
                      </m:sSub>
                      <m:r>
                        <a:rPr lang="en-US" altLang="zh-CN" sz="2400">
                          <a:solidFill>
                            <a:srgbClr val="344854"/>
                          </a:solidFill>
                          <a:latin typeface="Cambria Math" panose="02040503050406030204" pitchFamily="18" charset="0"/>
                          <a:sym typeface="Arial"/>
                        </a:rPr>
                        <m:t>))</m:t>
                      </m:r>
                    </m:oMath>
                  </a14:m>
                  <a:r>
                    <a:rPr lang="en-US" altLang="zh-CN" sz="2400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rPr>
                    <a:t>            </a:t>
                  </a:r>
                  <a:r>
                    <a:rPr lang="en-US" altLang="zh-CN" sz="2100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rPr>
                    <a:t> </a:t>
                  </a:r>
                  <a:r>
                    <a:rPr lang="en-US" altLang="zh-CN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rPr>
                    <a:t> </a:t>
                  </a:r>
                  <a:r>
                    <a:rPr lang="en-US" altLang="zh-CN" i="1" dirty="0">
                      <a:solidFill>
                        <a:srgbClr val="344854"/>
                      </a:solidFill>
                      <a:latin typeface="Arial" panose="020B0604020202090204"/>
                      <a:cs typeface="Arial" panose="020B0604020202090204"/>
                      <a:sym typeface="Arial"/>
                    </a:rPr>
                    <a:t>state estimate update</a:t>
                  </a:r>
                </a:p>
              </p:txBody>
            </p:sp>
          </mc:Choice>
          <mc:Fallback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12820A1B-C602-FB77-3CFF-DF4BC0EDBC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466" y="8380339"/>
                  <a:ext cx="8810260" cy="1942133"/>
                </a:xfrm>
                <a:prstGeom prst="rect">
                  <a:avLst/>
                </a:prstGeom>
                <a:blipFill>
                  <a:blip r:embed="rId19"/>
                  <a:stretch>
                    <a:fillRect l="-1578" r="-1004" b="-2564"/>
                  </a:stretch>
                </a:blipFill>
                <a:ln w="28575" cap="flat">
                  <a:solidFill>
                    <a:srgbClr val="68448B"/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en-CH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A397E61-7BA9-08A5-524F-E4B515052048}"/>
              </a:ext>
            </a:extLst>
          </p:cNvPr>
          <p:cNvGrpSpPr/>
          <p:nvPr/>
        </p:nvGrpSpPr>
        <p:grpSpPr>
          <a:xfrm>
            <a:off x="10148693" y="7315199"/>
            <a:ext cx="2739854" cy="937277"/>
            <a:chOff x="10358243" y="7315199"/>
            <a:chExt cx="2739854" cy="93727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0A70963-B260-C904-0EF1-7E6A601C1E22}"/>
                </a:ext>
              </a:extLst>
            </p:cNvPr>
            <p:cNvSpPr/>
            <p:nvPr/>
          </p:nvSpPr>
          <p:spPr>
            <a:xfrm>
              <a:off x="10358243" y="7729256"/>
              <a:ext cx="2739854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22225">
                    <a:solidFill>
                      <a:srgbClr val="68448B"/>
                    </a:solidFill>
                    <a:prstDash val="solid"/>
                  </a:ln>
                  <a:solidFill>
                    <a:srgbClr val="A889B7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INTRACTABLE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8533707-D7E3-F4C2-2801-51E8E28A7BCF}"/>
                </a:ext>
              </a:extLst>
            </p:cNvPr>
            <p:cNvCxnSpPr>
              <a:cxnSpLocks/>
            </p:cNvCxnSpPr>
            <p:nvPr/>
          </p:nvCxnSpPr>
          <p:spPr>
            <a:xfrm>
              <a:off x="11713164" y="7315199"/>
              <a:ext cx="0" cy="399542"/>
            </a:xfrm>
            <a:prstGeom prst="straightConnector1">
              <a:avLst/>
            </a:prstGeom>
            <a:noFill/>
            <a:ln w="76200" cap="flat">
              <a:solidFill>
                <a:srgbClr val="68448B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3CDF25B-4415-D65D-09C2-FB876071B347}"/>
              </a:ext>
            </a:extLst>
          </p:cNvPr>
          <p:cNvGrpSpPr/>
          <p:nvPr/>
        </p:nvGrpSpPr>
        <p:grpSpPr>
          <a:xfrm>
            <a:off x="19089111" y="4062583"/>
            <a:ext cx="12546153" cy="4859100"/>
            <a:chOff x="19089111" y="4062583"/>
            <a:chExt cx="12546153" cy="48591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1CE5F52-7551-F75C-31BA-960E755B43B9}"/>
                </a:ext>
              </a:extLst>
            </p:cNvPr>
            <p:cNvGrpSpPr/>
            <p:nvPr/>
          </p:nvGrpSpPr>
          <p:grpSpPr>
            <a:xfrm>
              <a:off x="19089111" y="4062583"/>
              <a:ext cx="5954971" cy="4836932"/>
              <a:chOff x="22807875" y="4347481"/>
              <a:chExt cx="5954971" cy="4836932"/>
            </a:xfrm>
          </p:grpSpPr>
          <p:sp>
            <p:nvSpPr>
              <p:cNvPr id="45" name="TextBox 54"/>
              <p:cNvSpPr txBox="1"/>
              <p:nvPr/>
            </p:nvSpPr>
            <p:spPr>
              <a:xfrm>
                <a:off x="22835407" y="8261083"/>
                <a:ext cx="5786165" cy="92333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 algn="ctr">
                  <a:defRPr sz="13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algn="just"/>
                <a:r>
                  <a:rPr lang="en-US" sz="1800" dirty="0"/>
                  <a:t>Figure 1: Comparison of validation error for different optimizers on CIFAR-100 using ResNet-50 with scheduled learning rate decays (epochs 30, 60, and 90</a:t>
                </a:r>
                <a:endParaRPr sz="1800" dirty="0"/>
              </a:p>
            </p:txBody>
          </p:sp>
          <p:pic>
            <p:nvPicPr>
              <p:cNvPr id="15" name="Picture 14" descr="A graph of data on a grid&#10;&#10;Description automatically generated with medium confidence">
                <a:extLst>
                  <a:ext uri="{FF2B5EF4-FFF2-40B4-BE49-F238E27FC236}">
                    <a16:creationId xmlns:a16="http://schemas.microsoft.com/office/drawing/2014/main" id="{61AE0AFF-019A-60E3-B42B-E556AB2D14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807875" y="4347481"/>
                <a:ext cx="5954971" cy="3956264"/>
              </a:xfrm>
              <a:prstGeom prst="rect">
                <a:avLst/>
              </a:prstGeom>
            </p:spPr>
          </p:pic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2C74B653-99E5-3775-459F-9239FD2EA264}"/>
                </a:ext>
              </a:extLst>
            </p:cNvPr>
            <p:cNvGrpSpPr/>
            <p:nvPr/>
          </p:nvGrpSpPr>
          <p:grpSpPr>
            <a:xfrm>
              <a:off x="25680293" y="4062583"/>
              <a:ext cx="5954971" cy="4859100"/>
              <a:chOff x="25680293" y="4059541"/>
              <a:chExt cx="5954971" cy="4859100"/>
            </a:xfrm>
          </p:grpSpPr>
          <p:pic>
            <p:nvPicPr>
              <p:cNvPr id="47" name="Picture 46" descr="A graph showing the number of epochms&#10;&#10;AI-generated content may be incorrect.">
                <a:extLst>
                  <a:ext uri="{FF2B5EF4-FFF2-40B4-BE49-F238E27FC236}">
                    <a16:creationId xmlns:a16="http://schemas.microsoft.com/office/drawing/2014/main" id="{43690548-A60F-531B-65B0-4F1448F885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680293" y="4059541"/>
                <a:ext cx="5954971" cy="3968430"/>
              </a:xfrm>
              <a:prstGeom prst="rect">
                <a:avLst/>
              </a:prstGeom>
            </p:spPr>
          </p:pic>
          <p:sp>
            <p:nvSpPr>
              <p:cNvPr id="51" name="TextBox 54">
                <a:extLst>
                  <a:ext uri="{FF2B5EF4-FFF2-40B4-BE49-F238E27FC236}">
                    <a16:creationId xmlns:a16="http://schemas.microsoft.com/office/drawing/2014/main" id="{C4BD688F-E327-65AA-EDF3-52EE4AB012E5}"/>
                  </a:ext>
                </a:extLst>
              </p:cNvPr>
              <p:cNvSpPr txBox="1"/>
              <p:nvPr/>
            </p:nvSpPr>
            <p:spPr>
              <a:xfrm>
                <a:off x="25738657" y="7995311"/>
                <a:ext cx="5786165" cy="92333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 algn="ctr">
                  <a:defRPr sz="13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algn="just"/>
                <a:r>
                  <a:rPr lang="en-US" sz="1800" dirty="0"/>
                  <a:t>Figure 2: Comparison of Top-1 validation error of ResNet-18 on ImageNet32 with scheduled learning rate decays (epochs 30, 60, and 90)</a:t>
                </a:r>
                <a:endParaRPr sz="1800" dirty="0"/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C6B6130-ACB6-8260-A494-742ECA6EA71E}"/>
              </a:ext>
            </a:extLst>
          </p:cNvPr>
          <p:cNvGrpSpPr/>
          <p:nvPr/>
        </p:nvGrpSpPr>
        <p:grpSpPr>
          <a:xfrm>
            <a:off x="19751587" y="9068734"/>
            <a:ext cx="11221201" cy="3831576"/>
            <a:chOff x="19751587" y="9640337"/>
            <a:chExt cx="11221201" cy="3831576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0837249A-1377-57D8-28A8-BD0BDAB3C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9751587" y="9640337"/>
              <a:ext cx="11221201" cy="3141560"/>
            </a:xfrm>
            <a:prstGeom prst="rect">
              <a:avLst/>
            </a:prstGeom>
          </p:spPr>
        </p:pic>
        <p:sp>
          <p:nvSpPr>
            <p:cNvPr id="62" name="TextBox 54">
              <a:extLst>
                <a:ext uri="{FF2B5EF4-FFF2-40B4-BE49-F238E27FC236}">
                  <a16:creationId xmlns:a16="http://schemas.microsoft.com/office/drawing/2014/main" id="{55F6BBDE-2BBD-7D8F-9794-289CD1716179}"/>
                </a:ext>
              </a:extLst>
            </p:cNvPr>
            <p:cNvSpPr txBox="1"/>
            <p:nvPr/>
          </p:nvSpPr>
          <p:spPr>
            <a:xfrm>
              <a:off x="19751587" y="12825582"/>
              <a:ext cx="11221201" cy="64633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algn="ctr">
                <a:defRPr sz="1300">
                  <a:solidFill>
                    <a:srgbClr val="344854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algn="just"/>
              <a:r>
                <a:rPr lang="en-US" sz="1800" dirty="0"/>
                <a:t>Table 1: </a:t>
              </a:r>
              <a:r>
                <a:rPr lang="en-GB" sz="1800" dirty="0"/>
                <a:t>Top-1 accuracy (%) on CIFAR-10 across various architectures. We report the average and the standard deviation over 5 seeds. </a:t>
              </a:r>
              <a:endParaRPr sz="1800" dirty="0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FB3D074-414F-2425-B707-1CFE0ED786A8}"/>
              </a:ext>
            </a:extLst>
          </p:cNvPr>
          <p:cNvGrpSpPr/>
          <p:nvPr/>
        </p:nvGrpSpPr>
        <p:grpSpPr>
          <a:xfrm>
            <a:off x="20417479" y="13740551"/>
            <a:ext cx="9889416" cy="3166339"/>
            <a:chOff x="20417479" y="13740551"/>
            <a:chExt cx="9889416" cy="3166339"/>
          </a:xfrm>
        </p:grpSpPr>
        <p:sp>
          <p:nvSpPr>
            <p:cNvPr id="24" name="TextBox 54">
              <a:extLst>
                <a:ext uri="{FF2B5EF4-FFF2-40B4-BE49-F238E27FC236}">
                  <a16:creationId xmlns:a16="http://schemas.microsoft.com/office/drawing/2014/main" id="{D3939253-D66A-5C23-002A-1FE232E135BD}"/>
                </a:ext>
              </a:extLst>
            </p:cNvPr>
            <p:cNvSpPr txBox="1"/>
            <p:nvPr/>
          </p:nvSpPr>
          <p:spPr>
            <a:xfrm>
              <a:off x="20417479" y="15983560"/>
              <a:ext cx="9889416" cy="92333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algn="ctr">
                <a:defRPr sz="1300">
                  <a:solidFill>
                    <a:srgbClr val="344854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algn="just"/>
              <a:r>
                <a:rPr lang="en-US" sz="1800" dirty="0"/>
                <a:t>Table 2: Language modeling performance on Wikitext-2, including the test PPL corresponding to the best validation model, as well as training time per epoch. </a:t>
              </a:r>
            </a:p>
            <a:p>
              <a:endParaRPr sz="1800" dirty="0"/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209338B1-092C-D0CE-2735-58F029ED8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20417479" y="13740551"/>
              <a:ext cx="9889416" cy="2185859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d400387a-212f-43ea-ac7f-77aa12d7977e}" enabled="0" method="" siteId="{d400387a-212f-43ea-ac7f-77aa12d7977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1181</TotalTime>
  <Words>727</Words>
  <Application>Microsoft Macintosh PowerPoint</Application>
  <PresentationFormat>Custom</PresentationFormat>
  <Paragraphs>81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Paolo Favaro</cp:lastModifiedBy>
  <cp:revision>5</cp:revision>
  <dcterms:modified xsi:type="dcterms:W3CDTF">2025-11-06T10:50:01Z</dcterms:modified>
</cp:coreProperties>
</file>